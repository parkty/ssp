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61" r:id="rId15"/>
    <p:sldId id="258" r:id="rId16"/>
    <p:sldId id="259" r:id="rId17"/>
    <p:sldId id="264" r:id="rId18"/>
    <p:sldId id="26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5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72" y="6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71C55-CD1E-26B7-02BB-3061A1B13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3E8879-2D94-C929-9BC6-321E2A895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971CFA-69BC-5E6F-2C56-4645C0BC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3A9187-6943-750D-4A73-A163B66A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00B55-C755-6E3D-34E6-91DBCD51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13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8C6C5-E6AF-2923-0257-994D2AA6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7172B-9C80-9EF0-3644-F5377D100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2D544F-89CE-E0CA-0EB7-AEDFBDB8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0378AE-9F17-DD02-BF83-359931AD6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A413A8-C2C0-5DE1-64ED-2D80980E8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23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4E4CE-B68A-B8BC-E1DB-C7BE84109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3EBFE6-FAB4-0A81-E2A1-F13B1FB74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5F625-4369-3331-71FA-B38A35EE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2B2ABF-B25E-93FD-5B95-D20A2B99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63EF2-109C-F3BB-25AB-7E07999C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5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EEA42-BF2A-C714-DAA0-A24973E2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9A2C8-BD92-98DF-F4EC-8FF6EF80F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70C47A-FCA5-81D2-396E-34181367E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709CE3-4C98-CAC0-7422-94F38105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1154FA-24F7-405A-EE77-6C136AC9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2B1537-A960-8E68-4B90-A1F71716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20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AEDC6-EFBD-C7C5-6AAB-B0D7AF7B9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AEE92E-F3B5-13C2-49F5-6F063233A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A745CA-F346-1835-B8B4-00D651976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609106-9049-1EB2-DFFD-89B6406BA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E1AD5F-1432-19E6-51E3-BDAD6F218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6747E71-B94D-32EF-A914-0D52B87EB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8EADEA-0852-75D3-69D2-2235501F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DFE9FA-761A-4ACA-8674-1C501B8B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55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5C00A-0C73-6834-C637-64B92A2F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2A50B2-81B1-20F5-E05D-D5C44F95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7F6CAA-3E4B-C0D5-3AA5-01ABE3DC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6275CD-FB9D-F75F-8EEF-7802ACFA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66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2CEC0C2-C193-8817-338A-16762A42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EBAC23-439C-86E7-B87C-15955081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432D64-0F4D-0D28-B320-57E7FFF3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E08C3-FEB2-F597-81A4-6CDE3757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3CD6E5-4818-0DC9-5702-455909949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7D7CA9-5A73-A038-D3D3-605816B0B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09CB6F-93F0-A4DC-302B-4F941DC6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54D0EE-7E28-1C14-871C-DD5000E0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C82E0B-9984-A0DE-EA8C-3547B428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979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F533C-9A32-F261-9ACF-AF8B5430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3DF093-50C0-9148-F960-938A23ABA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9CA897-9FCC-602A-FA69-71E072F85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43FAC-1371-114B-A983-0E997FA93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BD009B-A9C4-AB04-2F99-7AB9572A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D57DE8-ECAB-BEAC-E7BE-BEDF0E5E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10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81AEC-499A-11B2-2A23-EAD9EF73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31EBD9-CE88-00AB-520E-D9BCFEDD4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B7F56E-5932-C337-C0C7-4FB404251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4BF3E3-0722-F9A6-F78C-BFDEA88B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9A299-AA5B-F318-050F-F482B5DCD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10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928846-1F28-6266-64EC-DC6F836F1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FB8EA-0B68-E622-AB62-87553DD8F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00C09F-C95C-46E4-A8EE-38B81F273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486786-9BB8-4B81-455A-EAF8BEAE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801400-F2C4-9CD5-3634-2CA4C604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10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E0FA34-4FFC-0AC2-99AC-1197D90D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DBA1A4-FE73-BCCF-C21F-C3F8C2FD9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E7CE4-52A5-783F-F285-BBC846F36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E8183-FDEC-45B9-BCF6-06106E9FD76D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3789B3-DEFA-B215-F08C-5937B76FB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8FE7A7-B394-3CCE-4019-FFC7CD348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BD6D6-6A69-45A0-A541-4AA24E4F6D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5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EDD1DA-E60F-D3A9-3269-BEB9AFBC0295}"/>
              </a:ext>
            </a:extLst>
          </p:cNvPr>
          <p:cNvSpPr txBox="1"/>
          <p:nvPr/>
        </p:nvSpPr>
        <p:spPr>
          <a:xfrm>
            <a:off x="6254496" y="3822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https://wikidocs.net/294465#2-nodes-react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1E28A7-F987-B340-7BC0-7B52F4C3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836938"/>
            <a:ext cx="4876800" cy="5515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2C6419-27EE-B37F-3252-FE1814AF8D05}"/>
              </a:ext>
            </a:extLst>
          </p:cNvPr>
          <p:cNvSpPr txBox="1"/>
          <p:nvPr/>
        </p:nvSpPr>
        <p:spPr>
          <a:xfrm>
            <a:off x="268224" y="424934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랭그래프</a:t>
            </a:r>
            <a:r>
              <a:rPr lang="ko-KR" altLang="en-US" dirty="0"/>
              <a:t> 기초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https://wikidocs.net/261576</a:t>
            </a:r>
          </a:p>
        </p:txBody>
      </p:sp>
    </p:spTree>
    <p:extLst>
      <p:ext uri="{BB962C8B-B14F-4D97-AF65-F5344CB8AC3E}">
        <p14:creationId xmlns:p14="http://schemas.microsoft.com/office/powerpoint/2010/main" val="1155622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DC12F7D-AE1D-AB5D-A895-CF8E2AA57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93" y="329946"/>
            <a:ext cx="7545005" cy="61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1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BACDC-4754-2C67-7322-5C16A9F0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5CBC7B-14AA-6CAB-CD74-7F2C545348E4}"/>
              </a:ext>
            </a:extLst>
          </p:cNvPr>
          <p:cNvSpPr txBox="1"/>
          <p:nvPr/>
        </p:nvSpPr>
        <p:spPr>
          <a:xfrm>
            <a:off x="462843" y="417689"/>
            <a:ext cx="454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상용화</a:t>
            </a:r>
            <a:r>
              <a:rPr lang="en-US" altLang="ko-KR" dirty="0"/>
              <a:t> (</a:t>
            </a:r>
            <a:r>
              <a:rPr lang="ko-KR" altLang="en-US" dirty="0"/>
              <a:t>솔루션 시의 고려사항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3" name="표 43">
            <a:extLst>
              <a:ext uri="{FF2B5EF4-FFF2-40B4-BE49-F238E27FC236}">
                <a16:creationId xmlns:a16="http://schemas.microsoft.com/office/drawing/2014/main" id="{3FD3CABE-1725-C7AD-9057-095B9924E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76836"/>
              </p:ext>
            </p:extLst>
          </p:nvPr>
        </p:nvGraphicFramePr>
        <p:xfrm>
          <a:off x="660399" y="828378"/>
          <a:ext cx="11067143" cy="507255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704849">
                  <a:extLst>
                    <a:ext uri="{9D8B030D-6E8A-4147-A177-3AD203B41FA5}">
                      <a16:colId xmlns:a16="http://schemas.microsoft.com/office/drawing/2014/main" val="4061283726"/>
                    </a:ext>
                  </a:extLst>
                </a:gridCol>
                <a:gridCol w="4964466">
                  <a:extLst>
                    <a:ext uri="{9D8B030D-6E8A-4147-A177-3AD203B41FA5}">
                      <a16:colId xmlns:a16="http://schemas.microsoft.com/office/drawing/2014/main" val="2450232448"/>
                    </a:ext>
                  </a:extLst>
                </a:gridCol>
                <a:gridCol w="4397828">
                  <a:extLst>
                    <a:ext uri="{9D8B030D-6E8A-4147-A177-3AD203B41FA5}">
                      <a16:colId xmlns:a16="http://schemas.microsoft.com/office/drawing/2014/main" val="624999606"/>
                    </a:ext>
                  </a:extLst>
                </a:gridCol>
              </a:tblGrid>
              <a:tr h="3389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영역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고려 사항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관련 기술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235680"/>
                  </a:ext>
                </a:extLst>
              </a:tr>
              <a:tr h="5532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GUI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에디터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endParaRPr lang="ko-KR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494376"/>
                  </a:ext>
                </a:extLst>
              </a:tr>
              <a:tr h="5532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Runtime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896706"/>
                  </a:ext>
                </a:extLst>
              </a:tr>
              <a:tr h="7069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가드레일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717659"/>
                  </a:ext>
                </a:extLst>
              </a:tr>
              <a:tr h="5532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Observerability</a:t>
                      </a:r>
                      <a:endParaRPr lang="en-US" altLang="ko-KR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(Trace/Matric/Log)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520198"/>
                  </a:ext>
                </a:extLst>
              </a:tr>
              <a:tr h="5532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69676"/>
                  </a:ext>
                </a:extLst>
              </a:tr>
              <a:tr h="5532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78400"/>
                  </a:ext>
                </a:extLst>
              </a:tr>
              <a:tr h="553277">
                <a:tc>
                  <a:txBody>
                    <a:bodyPr/>
                    <a:lstStyle/>
                    <a:p>
                      <a:pPr latinLnBrk="0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867513"/>
                  </a:ext>
                </a:extLst>
              </a:tr>
              <a:tr h="706964">
                <a:tc>
                  <a:txBody>
                    <a:bodyPr/>
                    <a:lstStyle/>
                    <a:p>
                      <a:pPr latinLnBrk="0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298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046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F8CBA9-DF45-AC02-D773-BED0D6E0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5650A-237C-FE81-2F01-CCFC7C79A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7931BD6-BF78-1D02-6072-08CF1C597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5840361" cy="55530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50C174B-7F5D-AB03-12F6-0DEB7350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5" y="0"/>
            <a:ext cx="6143625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2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D890F-4623-48C3-1FEC-405C0B707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46C610-6DE4-A294-90A0-0D3EBE7C8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410389-86D6-A970-56EE-8A5671D40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29908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9E6E079-2A5F-6067-B187-083CF6700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47801"/>
            <a:ext cx="60960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26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4F648D-FEA2-747E-990C-CA1A85E0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558EFC-D560-6F4E-9C6E-E717FB792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CE6240-368A-641E-BA9A-9B5934C36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0087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7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4ECFE-9996-5DEF-BD09-DD60E30A0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FDB602-5C88-6E2A-3471-FCDBA830F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0564BFC-C0E8-BF6F-8F63-976B0F31B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475" y="1000125"/>
            <a:ext cx="687705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4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61559-D6F5-3A46-8B26-BCCAB32C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4E6D1-A20B-02AC-37A2-AA75939F2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94DDD6-E8F2-44FB-72CD-817D11EB6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37" y="1238250"/>
            <a:ext cx="63341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52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05FFD-401B-A63F-3A11-7B50F3A0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EBDD0-B02D-EF32-B53E-4FFA329C7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FB0E21-4A1D-44B2-85F7-099B885DB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770" y="0"/>
            <a:ext cx="585483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8E098A-6720-4156-C554-3013B788B61F}"/>
              </a:ext>
            </a:extLst>
          </p:cNvPr>
          <p:cNvSpPr txBox="1"/>
          <p:nvPr/>
        </p:nvSpPr>
        <p:spPr>
          <a:xfrm>
            <a:off x="2547257" y="119743"/>
            <a:ext cx="269965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적용 기술 및 선정이유</a:t>
            </a:r>
          </a:p>
        </p:txBody>
      </p:sp>
    </p:spTree>
    <p:extLst>
      <p:ext uri="{BB962C8B-B14F-4D97-AF65-F5344CB8AC3E}">
        <p14:creationId xmlns:p14="http://schemas.microsoft.com/office/powerpoint/2010/main" val="3096144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47FB3-1D44-432D-386B-7F9EE0A2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D2BC16-BD1B-5B19-5C2D-55CD2092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0D5DA5-DEFC-73A6-C15F-7F82E2738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91250" cy="4781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91FF2E7-3851-DAE3-413F-F8EAE58D0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698935"/>
            <a:ext cx="61722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100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54852-70E7-5EF5-3604-ADBB01DFB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D92CD-0C3B-2C80-715B-15EFBCD55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786AC4-0987-F1BA-2F35-7833C21C1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2" y="280987"/>
            <a:ext cx="6162675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15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3CDBA-DE91-DBED-C42E-DF336E53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295772-5C5E-7B05-F81A-F2B4E8BC6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402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B12DB-A240-18CC-E9A6-28CFCF70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CC95B2-1B15-A411-8202-200304BC0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5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C800D32-25EF-495E-9497-4B19D4A610C4}"/>
              </a:ext>
            </a:extLst>
          </p:cNvPr>
          <p:cNvSpPr/>
          <p:nvPr/>
        </p:nvSpPr>
        <p:spPr>
          <a:xfrm>
            <a:off x="2394255" y="968021"/>
            <a:ext cx="7752038" cy="5472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ko-KR" sz="800" dirty="0"/>
          </a:p>
          <a:p>
            <a:pPr algn="ctr"/>
            <a:r>
              <a:rPr lang="en-US" altLang="ko-KR" sz="2000" dirty="0"/>
              <a:t>Edge Node</a:t>
            </a:r>
            <a:endParaRPr lang="ko-KR" altLang="en-US" sz="2000" dirty="0"/>
          </a:p>
        </p:txBody>
      </p:sp>
      <p:sp>
        <p:nvSpPr>
          <p:cNvPr id="63" name="순서도: 처리 62">
            <a:extLst>
              <a:ext uri="{FF2B5EF4-FFF2-40B4-BE49-F238E27FC236}">
                <a16:creationId xmlns:a16="http://schemas.microsoft.com/office/drawing/2014/main" id="{E8DE72C5-0FAA-41CE-8A39-4A2930F68FB4}"/>
              </a:ext>
            </a:extLst>
          </p:cNvPr>
          <p:cNvSpPr/>
          <p:nvPr/>
        </p:nvSpPr>
        <p:spPr>
          <a:xfrm>
            <a:off x="5961657" y="4370282"/>
            <a:ext cx="3836086" cy="1136604"/>
          </a:xfrm>
          <a:prstGeom prst="flowChart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Http Client Worker Pool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376170-2DED-46A4-B32F-ADCADBFAD2CA}"/>
              </a:ext>
            </a:extLst>
          </p:cNvPr>
          <p:cNvSpPr/>
          <p:nvPr/>
        </p:nvSpPr>
        <p:spPr>
          <a:xfrm>
            <a:off x="462844" y="968022"/>
            <a:ext cx="1731434" cy="5472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ko-KR" sz="800" dirty="0"/>
          </a:p>
          <a:p>
            <a:pPr algn="ctr"/>
            <a:r>
              <a:rPr lang="en-US" altLang="ko-KR" sz="2000" dirty="0"/>
              <a:t>Server</a:t>
            </a:r>
            <a:endParaRPr lang="ko-KR" alt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4232D-F8FC-40A1-B944-4413795A1578}"/>
              </a:ext>
            </a:extLst>
          </p:cNvPr>
          <p:cNvSpPr txBox="1"/>
          <p:nvPr/>
        </p:nvSpPr>
        <p:spPr>
          <a:xfrm>
            <a:off x="462844" y="417689"/>
            <a:ext cx="301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구조 설계 </a:t>
            </a:r>
            <a:r>
              <a:rPr lang="en-US" altLang="ko-KR" dirty="0"/>
              <a:t>(</a:t>
            </a:r>
            <a:r>
              <a:rPr lang="ko-KR" altLang="en-US" dirty="0"/>
              <a:t>구성도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순서도: 수동 입력 4">
            <a:extLst>
              <a:ext uri="{FF2B5EF4-FFF2-40B4-BE49-F238E27FC236}">
                <a16:creationId xmlns:a16="http://schemas.microsoft.com/office/drawing/2014/main" id="{6DDD1AE3-D94C-4D55-B13A-1A909429B985}"/>
              </a:ext>
            </a:extLst>
          </p:cNvPr>
          <p:cNvSpPr/>
          <p:nvPr/>
        </p:nvSpPr>
        <p:spPr>
          <a:xfrm>
            <a:off x="620888" y="1711481"/>
            <a:ext cx="1350735" cy="654755"/>
          </a:xfrm>
          <a:prstGeom prst="flowChartManualInp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Console Input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C498E924-67E0-4866-BF7D-2D9F5F76478F}"/>
              </a:ext>
            </a:extLst>
          </p:cNvPr>
          <p:cNvSpPr/>
          <p:nvPr/>
        </p:nvSpPr>
        <p:spPr>
          <a:xfrm>
            <a:off x="620888" y="2941972"/>
            <a:ext cx="1350735" cy="654755"/>
          </a:xfrm>
          <a:prstGeom prst="flowChartManualInp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Http Request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4EE17B-3393-4374-BF3A-57F245CF97A1}"/>
              </a:ext>
            </a:extLst>
          </p:cNvPr>
          <p:cNvSpPr/>
          <p:nvPr/>
        </p:nvSpPr>
        <p:spPr>
          <a:xfrm>
            <a:off x="2670753" y="1711481"/>
            <a:ext cx="2573999" cy="654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Console Input Reader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표준입력 처리</a:t>
            </a:r>
            <a:r>
              <a:rPr lang="en-US" altLang="ko-KR" sz="1400" dirty="0">
                <a:solidFill>
                  <a:schemeClr val="tx1"/>
                </a:solidFill>
              </a:rPr>
              <a:t>, String Parser)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8A5ED3-B97A-42B2-BD61-46E21C01A394}"/>
              </a:ext>
            </a:extLst>
          </p:cNvPr>
          <p:cNvSpPr/>
          <p:nvPr/>
        </p:nvSpPr>
        <p:spPr>
          <a:xfrm>
            <a:off x="2679094" y="3426960"/>
            <a:ext cx="2573999" cy="654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Http Server for Server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(Jetty, Http Server)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06E47DA-8294-41E5-BE18-10DE5F91A685}"/>
              </a:ext>
            </a:extLst>
          </p:cNvPr>
          <p:cNvGrpSpPr/>
          <p:nvPr/>
        </p:nvGrpSpPr>
        <p:grpSpPr>
          <a:xfrm>
            <a:off x="10304641" y="1060838"/>
            <a:ext cx="1560944" cy="1257127"/>
            <a:chOff x="6741089" y="1909436"/>
            <a:chExt cx="2133596" cy="1712686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7F4D9423-ABE1-4A9D-A1AC-FBFFE163BEC9}"/>
                </a:ext>
              </a:extLst>
            </p:cNvPr>
            <p:cNvSpPr/>
            <p:nvPr/>
          </p:nvSpPr>
          <p:spPr>
            <a:xfrm>
              <a:off x="6741089" y="1909436"/>
              <a:ext cx="2133596" cy="171268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정보 조회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초기 데이터</a:t>
              </a:r>
            </a:p>
          </p:txBody>
        </p:sp>
        <p:sp>
          <p:nvSpPr>
            <p:cNvPr id="12" name="순서도: 문서 11">
              <a:extLst>
                <a:ext uri="{FF2B5EF4-FFF2-40B4-BE49-F238E27FC236}">
                  <a16:creationId xmlns:a16="http://schemas.microsoft.com/office/drawing/2014/main" id="{AA8D5106-446F-42F7-B84F-B6E1E46EBC66}"/>
                </a:ext>
              </a:extLst>
            </p:cNvPr>
            <p:cNvSpPr/>
            <p:nvPr/>
          </p:nvSpPr>
          <p:spPr>
            <a:xfrm>
              <a:off x="7041048" y="2554111"/>
              <a:ext cx="1591733" cy="451554"/>
            </a:xfrm>
            <a:prstGeom prst="flowChartDocumen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Device</a:t>
              </a:r>
              <a:r>
                <a:rPr lang="ko-KR" altLang="en-US" sz="1000" dirty="0">
                  <a:solidFill>
                    <a:schemeClr val="tx1"/>
                  </a:solidFill>
                </a:rPr>
                <a:t> 정보</a:t>
              </a:r>
            </a:p>
          </p:txBody>
        </p:sp>
        <p:sp>
          <p:nvSpPr>
            <p:cNvPr id="13" name="순서도: 문서 12">
              <a:extLst>
                <a:ext uri="{FF2B5EF4-FFF2-40B4-BE49-F238E27FC236}">
                  <a16:creationId xmlns:a16="http://schemas.microsoft.com/office/drawing/2014/main" id="{CF777FA6-5F90-40EF-957F-F846B2A291DB}"/>
                </a:ext>
              </a:extLst>
            </p:cNvPr>
            <p:cNvSpPr/>
            <p:nvPr/>
          </p:nvSpPr>
          <p:spPr>
            <a:xfrm>
              <a:off x="7041048" y="3031468"/>
              <a:ext cx="1591733" cy="451554"/>
            </a:xfrm>
            <a:prstGeom prst="flowChartDocumen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Command</a:t>
              </a: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정보</a:t>
              </a:r>
            </a:p>
          </p:txBody>
        </p:sp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3BCDF9F-2B99-496A-B019-DE9E6E2585EE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1971623" y="2038859"/>
            <a:ext cx="6991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6DEE0BD-1704-44C8-984A-6B90D7BDED55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1971623" y="3269350"/>
            <a:ext cx="707471" cy="4849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E9C3CE-5896-447B-B6CD-27B9F3CF54AF}"/>
              </a:ext>
            </a:extLst>
          </p:cNvPr>
          <p:cNvSpPr/>
          <p:nvPr/>
        </p:nvSpPr>
        <p:spPr>
          <a:xfrm>
            <a:off x="3111158" y="4352449"/>
            <a:ext cx="2133596" cy="494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Request Handler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C42E3BC-6527-43B9-9946-F82F10994C1F}"/>
              </a:ext>
            </a:extLst>
          </p:cNvPr>
          <p:cNvSpPr/>
          <p:nvPr/>
        </p:nvSpPr>
        <p:spPr>
          <a:xfrm>
            <a:off x="3269505" y="4459101"/>
            <a:ext cx="2133596" cy="494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Request Handler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B3486B8-8F50-4A2E-B2EE-5186A10B98E3}"/>
              </a:ext>
            </a:extLst>
          </p:cNvPr>
          <p:cNvSpPr/>
          <p:nvPr/>
        </p:nvSpPr>
        <p:spPr>
          <a:xfrm>
            <a:off x="3454761" y="4562703"/>
            <a:ext cx="2133596" cy="6294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Http Request Handler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(Servlet, </a:t>
            </a:r>
            <a:r>
              <a:rPr lang="en-US" altLang="ko-KR" sz="1400" dirty="0" err="1">
                <a:solidFill>
                  <a:schemeClr val="tx1"/>
                </a:solidFill>
              </a:rPr>
              <a:t>Url</a:t>
            </a:r>
            <a:r>
              <a:rPr lang="en-US" altLang="ko-KR" sz="1400" dirty="0">
                <a:solidFill>
                  <a:schemeClr val="tx1"/>
                </a:solidFill>
              </a:rPr>
              <a:t> Mapping, Json Se/Deserialization)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0BC81DE5-595C-4CAF-A851-3446F9AB0493}"/>
              </a:ext>
            </a:extLst>
          </p:cNvPr>
          <p:cNvCxnSpPr>
            <a:cxnSpLocks/>
            <a:endCxn id="27" idx="1"/>
          </p:cNvCxnSpPr>
          <p:nvPr/>
        </p:nvCxnSpPr>
        <p:spPr>
          <a:xfrm rot="16200000" flipH="1">
            <a:off x="2748400" y="4236836"/>
            <a:ext cx="517879" cy="2076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A4C9A8A-1469-4D9A-8350-B866524A0C53}"/>
              </a:ext>
            </a:extLst>
          </p:cNvPr>
          <p:cNvSpPr/>
          <p:nvPr/>
        </p:nvSpPr>
        <p:spPr>
          <a:xfrm>
            <a:off x="6057621" y="3683545"/>
            <a:ext cx="3601395" cy="494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Http</a:t>
            </a:r>
            <a:r>
              <a:rPr lang="ko-KR" altLang="en-US" sz="1400" dirty="0">
                <a:solidFill>
                  <a:schemeClr val="tx1"/>
                </a:solidFill>
              </a:rPr>
              <a:t> 요청 </a:t>
            </a:r>
            <a:r>
              <a:rPr lang="en-US" altLang="ko-KR" sz="1400" dirty="0">
                <a:solidFill>
                  <a:schemeClr val="tx1"/>
                </a:solidFill>
              </a:rPr>
              <a:t>Workers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병렬처리</a:t>
            </a:r>
            <a:r>
              <a:rPr lang="en-US" altLang="ko-KR" sz="1400" dirty="0">
                <a:solidFill>
                  <a:schemeClr val="tx1"/>
                </a:solidFill>
              </a:rPr>
              <a:t>, Worker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Pool</a:t>
            </a:r>
            <a:r>
              <a:rPr lang="ko-KR" altLang="en-US" sz="1400" dirty="0">
                <a:solidFill>
                  <a:schemeClr val="tx1"/>
                </a:solidFill>
              </a:rPr>
              <a:t>관리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D4C08655-914C-4EEF-8D16-1060C8479478}"/>
              </a:ext>
            </a:extLst>
          </p:cNvPr>
          <p:cNvCxnSpPr>
            <a:cxnSpLocks/>
            <a:stCxn id="19" idx="1"/>
            <a:endCxn id="51" idx="3"/>
          </p:cNvCxnSpPr>
          <p:nvPr/>
        </p:nvCxnSpPr>
        <p:spPr>
          <a:xfrm flipH="1">
            <a:off x="9900410" y="1689402"/>
            <a:ext cx="404231" cy="24735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5A0D139B-7B9E-4E25-9F8F-93DB0C8E2AF0}"/>
              </a:ext>
            </a:extLst>
          </p:cNvPr>
          <p:cNvCxnSpPr>
            <a:cxnSpLocks/>
            <a:stCxn id="30" idx="3"/>
            <a:endCxn id="34" idx="1"/>
          </p:cNvCxnSpPr>
          <p:nvPr/>
        </p:nvCxnSpPr>
        <p:spPr>
          <a:xfrm flipV="1">
            <a:off x="5588357" y="3930691"/>
            <a:ext cx="469264" cy="94674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FB1D5F4-BBC5-4FDF-B884-9BBC1C194219}"/>
              </a:ext>
            </a:extLst>
          </p:cNvPr>
          <p:cNvSpPr/>
          <p:nvPr/>
        </p:nvSpPr>
        <p:spPr>
          <a:xfrm>
            <a:off x="7559153" y="1609380"/>
            <a:ext cx="2341257" cy="654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Initial Data Loader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(File Reader, String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Parser, Json Se/Deserialization)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5FE4E93-55CA-4CFC-84B0-7CBD8460F9D9}"/>
              </a:ext>
            </a:extLst>
          </p:cNvPr>
          <p:cNvSpPr/>
          <p:nvPr/>
        </p:nvSpPr>
        <p:spPr>
          <a:xfrm>
            <a:off x="7317759" y="2820574"/>
            <a:ext cx="2341257" cy="6632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Device/Command</a:t>
            </a:r>
            <a:r>
              <a:rPr lang="ko-KR" altLang="en-US" sz="1400" dirty="0">
                <a:solidFill>
                  <a:schemeClr val="tx1"/>
                </a:solidFill>
              </a:rPr>
              <a:t> 정보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8BE5E93-B724-4614-8CF6-E3287FD3C46C}"/>
              </a:ext>
            </a:extLst>
          </p:cNvPr>
          <p:cNvCxnSpPr>
            <a:cxnSpLocks/>
            <a:stCxn id="51" idx="2"/>
            <a:endCxn id="67" idx="0"/>
          </p:cNvCxnSpPr>
          <p:nvPr/>
        </p:nvCxnSpPr>
        <p:spPr>
          <a:xfrm flipH="1">
            <a:off x="8488388" y="2264135"/>
            <a:ext cx="241394" cy="556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31AE6AC-9FF2-4E22-9D05-889368544315}"/>
              </a:ext>
            </a:extLst>
          </p:cNvPr>
          <p:cNvCxnSpPr>
            <a:cxnSpLocks/>
            <a:stCxn id="34" idx="0"/>
            <a:endCxn id="67" idx="2"/>
          </p:cNvCxnSpPr>
          <p:nvPr/>
        </p:nvCxnSpPr>
        <p:spPr>
          <a:xfrm flipV="1">
            <a:off x="7858319" y="3483853"/>
            <a:ext cx="630069" cy="19969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8C78BF34-285F-4F84-A040-71E228338ADF}"/>
              </a:ext>
            </a:extLst>
          </p:cNvPr>
          <p:cNvSpPr/>
          <p:nvPr/>
        </p:nvSpPr>
        <p:spPr>
          <a:xfrm>
            <a:off x="4277544" y="2451401"/>
            <a:ext cx="2133596" cy="494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 String Request Handler</a:t>
            </a: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B7FE638D-475C-46EC-B10F-9370CBD68314}"/>
              </a:ext>
            </a:extLst>
          </p:cNvPr>
          <p:cNvCxnSpPr>
            <a:cxnSpLocks/>
            <a:stCxn id="108" idx="2"/>
            <a:endCxn id="67" idx="1"/>
          </p:cNvCxnSpPr>
          <p:nvPr/>
        </p:nvCxnSpPr>
        <p:spPr>
          <a:xfrm>
            <a:off x="5344342" y="2945693"/>
            <a:ext cx="1973417" cy="2065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A0C0696C-DDC9-4B49-BF37-9D0A673DE2AA}"/>
              </a:ext>
            </a:extLst>
          </p:cNvPr>
          <p:cNvCxnSpPr>
            <a:cxnSpLocks/>
            <a:stCxn id="10" idx="2"/>
            <a:endCxn id="108" idx="1"/>
          </p:cNvCxnSpPr>
          <p:nvPr/>
        </p:nvCxnSpPr>
        <p:spPr>
          <a:xfrm rot="16200000" flipH="1">
            <a:off x="3951493" y="2372495"/>
            <a:ext cx="332311" cy="3197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육각형 131">
            <a:extLst>
              <a:ext uri="{FF2B5EF4-FFF2-40B4-BE49-F238E27FC236}">
                <a16:creationId xmlns:a16="http://schemas.microsoft.com/office/drawing/2014/main" id="{3266509B-2785-4295-AD7C-9E22C18A9D4D}"/>
              </a:ext>
            </a:extLst>
          </p:cNvPr>
          <p:cNvSpPr/>
          <p:nvPr/>
        </p:nvSpPr>
        <p:spPr>
          <a:xfrm>
            <a:off x="10325878" y="4028150"/>
            <a:ext cx="1560944" cy="1377875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Device</a:t>
            </a:r>
            <a:endParaRPr lang="ko-KR" altLang="en-US" dirty="0"/>
          </a:p>
        </p:txBody>
      </p:sp>
      <p:cxnSp>
        <p:nvCxnSpPr>
          <p:cNvPr id="138" name="연결선: 꺾임 137">
            <a:extLst>
              <a:ext uri="{FF2B5EF4-FFF2-40B4-BE49-F238E27FC236}">
                <a16:creationId xmlns:a16="http://schemas.microsoft.com/office/drawing/2014/main" id="{1378F51B-5E28-4F93-933A-1A42CF50ABBE}"/>
              </a:ext>
            </a:extLst>
          </p:cNvPr>
          <p:cNvCxnSpPr>
            <a:cxnSpLocks/>
            <a:stCxn id="108" idx="3"/>
            <a:endCxn id="132" idx="4"/>
          </p:cNvCxnSpPr>
          <p:nvPr/>
        </p:nvCxnSpPr>
        <p:spPr>
          <a:xfrm>
            <a:off x="6411140" y="2698547"/>
            <a:ext cx="4259207" cy="132960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1950C35B-4727-47BB-856D-988519C359AE}"/>
              </a:ext>
            </a:extLst>
          </p:cNvPr>
          <p:cNvSpPr/>
          <p:nvPr/>
        </p:nvSpPr>
        <p:spPr>
          <a:xfrm>
            <a:off x="6096000" y="4734419"/>
            <a:ext cx="1028419" cy="6294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Http Request worker #1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(Thread, Http Client)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69ABECCC-7BB0-4C0D-8A93-B3E8842E26D7}"/>
              </a:ext>
            </a:extLst>
          </p:cNvPr>
          <p:cNvCxnSpPr>
            <a:cxnSpLocks/>
            <a:stCxn id="59" idx="3"/>
            <a:endCxn id="132" idx="3"/>
          </p:cNvCxnSpPr>
          <p:nvPr/>
        </p:nvCxnSpPr>
        <p:spPr>
          <a:xfrm flipV="1">
            <a:off x="9626020" y="4717088"/>
            <a:ext cx="699858" cy="332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97918CB4-7A21-4A7F-ABCD-2EA637801411}"/>
              </a:ext>
            </a:extLst>
          </p:cNvPr>
          <p:cNvSpPr/>
          <p:nvPr/>
        </p:nvSpPr>
        <p:spPr>
          <a:xfrm>
            <a:off x="6119190" y="5641056"/>
            <a:ext cx="3499865" cy="5588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Computing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동적 라이브러리 로딩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실행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3DDB008-89AA-435F-973B-3B946FBC922C}"/>
              </a:ext>
            </a:extLst>
          </p:cNvPr>
          <p:cNvSpPr/>
          <p:nvPr/>
        </p:nvSpPr>
        <p:spPr>
          <a:xfrm>
            <a:off x="7167693" y="4734419"/>
            <a:ext cx="1028419" cy="6294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Http Request worker #2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(Thread, Http Client)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6CBCB76-4FB0-4324-82F0-BEEC6F17CDA7}"/>
              </a:ext>
            </a:extLst>
          </p:cNvPr>
          <p:cNvSpPr/>
          <p:nvPr/>
        </p:nvSpPr>
        <p:spPr>
          <a:xfrm>
            <a:off x="8534820" y="4734418"/>
            <a:ext cx="1091200" cy="6294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Http Request worker #n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(Thread, Http Client)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7F3FF6F-FF62-448D-B3B3-19366475AA09}"/>
              </a:ext>
            </a:extLst>
          </p:cNvPr>
          <p:cNvSpPr/>
          <p:nvPr/>
        </p:nvSpPr>
        <p:spPr>
          <a:xfrm>
            <a:off x="8244712" y="4734419"/>
            <a:ext cx="243676" cy="6294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…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2914653F-D100-402C-919A-0A964A323297}"/>
              </a:ext>
            </a:extLst>
          </p:cNvPr>
          <p:cNvCxnSpPr>
            <a:cxnSpLocks/>
            <a:stCxn id="34" idx="2"/>
            <a:endCxn id="63" idx="0"/>
          </p:cNvCxnSpPr>
          <p:nvPr/>
        </p:nvCxnSpPr>
        <p:spPr>
          <a:xfrm>
            <a:off x="7858319" y="4177837"/>
            <a:ext cx="21381" cy="192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A9DA70DE-B871-42DA-903A-60637999C5C7}"/>
              </a:ext>
            </a:extLst>
          </p:cNvPr>
          <p:cNvCxnSpPr>
            <a:cxnSpLocks/>
            <a:stCxn id="153" idx="2"/>
            <a:endCxn id="176" idx="0"/>
          </p:cNvCxnSpPr>
          <p:nvPr/>
        </p:nvCxnSpPr>
        <p:spPr>
          <a:xfrm>
            <a:off x="6610210" y="5363874"/>
            <a:ext cx="1258913" cy="2771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500705AF-99F1-451F-ACC1-60D640461788}"/>
              </a:ext>
            </a:extLst>
          </p:cNvPr>
          <p:cNvCxnSpPr>
            <a:cxnSpLocks/>
            <a:stCxn id="55" idx="2"/>
            <a:endCxn id="176" idx="0"/>
          </p:cNvCxnSpPr>
          <p:nvPr/>
        </p:nvCxnSpPr>
        <p:spPr>
          <a:xfrm>
            <a:off x="7681903" y="5363874"/>
            <a:ext cx="187220" cy="2771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8CCF9CA-3C7D-43F9-AD12-E55BE9351A3E}"/>
              </a:ext>
            </a:extLst>
          </p:cNvPr>
          <p:cNvCxnSpPr>
            <a:cxnSpLocks/>
            <a:endCxn id="176" idx="0"/>
          </p:cNvCxnSpPr>
          <p:nvPr/>
        </p:nvCxnSpPr>
        <p:spPr>
          <a:xfrm flipH="1">
            <a:off x="7869123" y="5374716"/>
            <a:ext cx="1204548" cy="2663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8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64232D-F8FC-40A1-B944-4413795A1578}"/>
              </a:ext>
            </a:extLst>
          </p:cNvPr>
          <p:cNvSpPr txBox="1"/>
          <p:nvPr/>
        </p:nvSpPr>
        <p:spPr>
          <a:xfrm>
            <a:off x="462844" y="417689"/>
            <a:ext cx="3702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논리 설계 </a:t>
            </a:r>
            <a:r>
              <a:rPr lang="en-US" altLang="ko-KR" dirty="0"/>
              <a:t>(Flow Diagram)</a:t>
            </a:r>
            <a:endParaRPr lang="ko-KR" altLang="en-US" dirty="0"/>
          </a:p>
        </p:txBody>
      </p:sp>
      <p:sp>
        <p:nvSpPr>
          <p:cNvPr id="2" name="순서도: 수행의 시작/종료 1">
            <a:extLst>
              <a:ext uri="{FF2B5EF4-FFF2-40B4-BE49-F238E27FC236}">
                <a16:creationId xmlns:a16="http://schemas.microsoft.com/office/drawing/2014/main" id="{930711F8-E477-4692-A505-6CA48F3FBE65}"/>
              </a:ext>
            </a:extLst>
          </p:cNvPr>
          <p:cNvSpPr/>
          <p:nvPr/>
        </p:nvSpPr>
        <p:spPr>
          <a:xfrm>
            <a:off x="818444" y="1497378"/>
            <a:ext cx="1308100" cy="369332"/>
          </a:xfrm>
          <a:prstGeom prst="flowChartTerminator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시작</a:t>
            </a:r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59F671DA-EBD1-4D4D-8D32-5C75B2114B11}"/>
              </a:ext>
            </a:extLst>
          </p:cNvPr>
          <p:cNvSpPr/>
          <p:nvPr/>
        </p:nvSpPr>
        <p:spPr>
          <a:xfrm>
            <a:off x="818444" y="3721098"/>
            <a:ext cx="1308100" cy="369332"/>
          </a:xfrm>
          <a:prstGeom prst="flowChartTerminator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종료</a:t>
            </a: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12C2E46-143F-40A7-83E1-5F8ACBAD47DB}"/>
              </a:ext>
            </a:extLst>
          </p:cNvPr>
          <p:cNvSpPr/>
          <p:nvPr/>
        </p:nvSpPr>
        <p:spPr>
          <a:xfrm>
            <a:off x="462844" y="2158904"/>
            <a:ext cx="2019300" cy="571500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초기 메타 데이터 로딩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(Device, Command ,</a:t>
            </a:r>
            <a:r>
              <a:rPr lang="ko-KR" altLang="en-US" sz="1200" dirty="0">
                <a:solidFill>
                  <a:schemeClr val="tx1"/>
                </a:solidFill>
              </a:rPr>
              <a:t>정보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06962D7E-7AA5-4459-8C31-417EDAD33D51}"/>
              </a:ext>
            </a:extLst>
          </p:cNvPr>
          <p:cNvSpPr/>
          <p:nvPr/>
        </p:nvSpPr>
        <p:spPr>
          <a:xfrm>
            <a:off x="462844" y="2940001"/>
            <a:ext cx="2019300" cy="571500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표준 입력 대기</a:t>
            </a:r>
            <a:r>
              <a:rPr lang="en-US" altLang="ko-KR" sz="1200" dirty="0">
                <a:solidFill>
                  <a:schemeClr val="tx1"/>
                </a:solidFill>
              </a:rPr>
              <a:t>, Http Server </a:t>
            </a:r>
            <a:r>
              <a:rPr lang="ko-KR" altLang="en-US" sz="1200" dirty="0">
                <a:solidFill>
                  <a:schemeClr val="tx1"/>
                </a:solidFill>
              </a:rPr>
              <a:t>구동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61C8004-4252-46A5-AB78-407162519CDF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1472494" y="1866710"/>
            <a:ext cx="0" cy="29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EA4A8D0-CDC4-40F1-B963-A31B041C015E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1472494" y="2730404"/>
            <a:ext cx="0" cy="2095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ADD1EBB-570F-4B05-8AFC-420A59BA7F4D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1472494" y="3511501"/>
            <a:ext cx="0" cy="2095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수행의 시작/종료 15">
            <a:extLst>
              <a:ext uri="{FF2B5EF4-FFF2-40B4-BE49-F238E27FC236}">
                <a16:creationId xmlns:a16="http://schemas.microsoft.com/office/drawing/2014/main" id="{4297BC61-26C3-4A2B-B7A6-711E2C12801E}"/>
              </a:ext>
            </a:extLst>
          </p:cNvPr>
          <p:cNvSpPr/>
          <p:nvPr/>
        </p:nvSpPr>
        <p:spPr>
          <a:xfrm>
            <a:off x="5911144" y="176578"/>
            <a:ext cx="1308100" cy="369332"/>
          </a:xfrm>
          <a:prstGeom prst="flowChartTerminator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시작</a:t>
            </a: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B0B71F3B-98C1-4C97-9CC1-1053BFA9D45C}"/>
              </a:ext>
            </a:extLst>
          </p:cNvPr>
          <p:cNvSpPr/>
          <p:nvPr/>
        </p:nvSpPr>
        <p:spPr>
          <a:xfrm>
            <a:off x="9512289" y="6043107"/>
            <a:ext cx="1308100" cy="369332"/>
          </a:xfrm>
          <a:prstGeom prst="flowChartTerminator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종료</a:t>
            </a: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2D94CD2D-1473-4021-AD5D-B710ABEC669A}"/>
              </a:ext>
            </a:extLst>
          </p:cNvPr>
          <p:cNvSpPr/>
          <p:nvPr/>
        </p:nvSpPr>
        <p:spPr>
          <a:xfrm>
            <a:off x="5555544" y="1327101"/>
            <a:ext cx="2019300" cy="571500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요청 기준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Device/Command </a:t>
            </a:r>
            <a:r>
              <a:rPr lang="ko-KR" altLang="en-US" sz="1200" dirty="0">
                <a:solidFill>
                  <a:schemeClr val="tx1"/>
                </a:solidFill>
              </a:rPr>
              <a:t>조회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(From </a:t>
            </a:r>
            <a:r>
              <a:rPr lang="ko-KR" altLang="en-US" sz="1200" dirty="0">
                <a:solidFill>
                  <a:schemeClr val="tx1"/>
                </a:solidFill>
              </a:rPr>
              <a:t>메타 데이터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48A9A45-DE53-42DA-88D4-478E67B49F1E}"/>
              </a:ext>
            </a:extLst>
          </p:cNvPr>
          <p:cNvCxnSpPr>
            <a:cxnSpLocks/>
            <a:stCxn id="16" idx="2"/>
            <a:endCxn id="24" idx="1"/>
          </p:cNvCxnSpPr>
          <p:nvPr/>
        </p:nvCxnSpPr>
        <p:spPr>
          <a:xfrm>
            <a:off x="6565194" y="545910"/>
            <a:ext cx="0" cy="292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98932B0-1A5D-467D-95A2-B33AA7334AD8}"/>
              </a:ext>
            </a:extLst>
          </p:cNvPr>
          <p:cNvCxnSpPr>
            <a:cxnSpLocks/>
            <a:stCxn id="24" idx="4"/>
            <a:endCxn id="19" idx="0"/>
          </p:cNvCxnSpPr>
          <p:nvPr/>
        </p:nvCxnSpPr>
        <p:spPr>
          <a:xfrm>
            <a:off x="6565194" y="1181004"/>
            <a:ext cx="0" cy="1460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26B12AAE-B364-44DC-9D1D-3FCF575A26A2}"/>
              </a:ext>
            </a:extLst>
          </p:cNvPr>
          <p:cNvSpPr/>
          <p:nvPr/>
        </p:nvSpPr>
        <p:spPr>
          <a:xfrm>
            <a:off x="5669844" y="838104"/>
            <a:ext cx="1790700" cy="342900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Http </a:t>
            </a:r>
            <a:r>
              <a:rPr lang="ko-KR" altLang="en-US" sz="1200" dirty="0">
                <a:solidFill>
                  <a:schemeClr val="tx1"/>
                </a:solidFill>
              </a:rPr>
              <a:t>요청 </a:t>
            </a:r>
            <a:r>
              <a:rPr lang="en-US" altLang="ko-KR" sz="1200" dirty="0">
                <a:solidFill>
                  <a:schemeClr val="tx1"/>
                </a:solidFill>
              </a:rPr>
              <a:t>(From Server)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순서도: 문서 30">
            <a:extLst>
              <a:ext uri="{FF2B5EF4-FFF2-40B4-BE49-F238E27FC236}">
                <a16:creationId xmlns:a16="http://schemas.microsoft.com/office/drawing/2014/main" id="{CFBCC0D9-E7B8-41ED-A035-08E8574BB832}"/>
              </a:ext>
            </a:extLst>
          </p:cNvPr>
          <p:cNvSpPr/>
          <p:nvPr/>
        </p:nvSpPr>
        <p:spPr>
          <a:xfrm>
            <a:off x="2988911" y="1890959"/>
            <a:ext cx="1164516" cy="331445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Device</a:t>
            </a:r>
            <a:r>
              <a:rPr lang="ko-KR" altLang="en-US" sz="1000" dirty="0">
                <a:solidFill>
                  <a:schemeClr val="tx1"/>
                </a:solidFill>
              </a:rPr>
              <a:t> 정보</a:t>
            </a:r>
          </a:p>
        </p:txBody>
      </p:sp>
      <p:sp>
        <p:nvSpPr>
          <p:cNvPr id="32" name="순서도: 문서 31">
            <a:extLst>
              <a:ext uri="{FF2B5EF4-FFF2-40B4-BE49-F238E27FC236}">
                <a16:creationId xmlns:a16="http://schemas.microsoft.com/office/drawing/2014/main" id="{5837005B-DE5B-4A1A-BF1D-D075ACA91049}"/>
              </a:ext>
            </a:extLst>
          </p:cNvPr>
          <p:cNvSpPr/>
          <p:nvPr/>
        </p:nvSpPr>
        <p:spPr>
          <a:xfrm>
            <a:off x="2988911" y="2266744"/>
            <a:ext cx="1164516" cy="331445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Command </a:t>
            </a:r>
            <a:r>
              <a:rPr lang="ko-KR" altLang="en-US" sz="1000" dirty="0">
                <a:solidFill>
                  <a:schemeClr val="tx1"/>
                </a:solidFill>
              </a:rPr>
              <a:t>정보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420902B-A702-48A1-A64E-2F9A6F0B5536}"/>
              </a:ext>
            </a:extLst>
          </p:cNvPr>
          <p:cNvCxnSpPr>
            <a:cxnSpLocks/>
            <a:stCxn id="31" idx="1"/>
            <a:endCxn id="3" idx="3"/>
          </p:cNvCxnSpPr>
          <p:nvPr/>
        </p:nvCxnSpPr>
        <p:spPr>
          <a:xfrm flipH="1">
            <a:off x="2482144" y="2056682"/>
            <a:ext cx="506767" cy="38797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81C540F-8BAF-42C1-9F93-56FFA2B2F4FE}"/>
              </a:ext>
            </a:extLst>
          </p:cNvPr>
          <p:cNvCxnSpPr>
            <a:cxnSpLocks/>
            <a:stCxn id="32" idx="1"/>
            <a:endCxn id="3" idx="3"/>
          </p:cNvCxnSpPr>
          <p:nvPr/>
        </p:nvCxnSpPr>
        <p:spPr>
          <a:xfrm flipH="1">
            <a:off x="2482144" y="2432467"/>
            <a:ext cx="506767" cy="1218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F5A3ABEB-C932-403E-A2A3-AC5778AFDA26}"/>
              </a:ext>
            </a:extLst>
          </p:cNvPr>
          <p:cNvSpPr/>
          <p:nvPr/>
        </p:nvSpPr>
        <p:spPr>
          <a:xfrm>
            <a:off x="5551219" y="3847355"/>
            <a:ext cx="2031294" cy="369332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Device </a:t>
            </a:r>
            <a:r>
              <a:rPr lang="ko-KR" altLang="en-US" sz="1200" dirty="0">
                <a:solidFill>
                  <a:schemeClr val="tx1"/>
                </a:solidFill>
              </a:rPr>
              <a:t>서비스 호출</a:t>
            </a: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E6C8C93D-B2C7-4921-BC8C-288DFCB99EF7}"/>
              </a:ext>
            </a:extLst>
          </p:cNvPr>
          <p:cNvSpPr/>
          <p:nvPr/>
        </p:nvSpPr>
        <p:spPr>
          <a:xfrm>
            <a:off x="5556418" y="4395724"/>
            <a:ext cx="2031294" cy="369332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Device</a:t>
            </a:r>
            <a:r>
              <a:rPr lang="ko-KR" altLang="en-US" sz="1200" dirty="0">
                <a:solidFill>
                  <a:schemeClr val="tx1"/>
                </a:solidFill>
              </a:rPr>
              <a:t> 응답 수신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3C2C297D-D016-4EE1-80D2-CF29B001B157}"/>
              </a:ext>
            </a:extLst>
          </p:cNvPr>
          <p:cNvCxnSpPr>
            <a:cxnSpLocks/>
            <a:stCxn id="79" idx="2"/>
            <a:endCxn id="42" idx="0"/>
          </p:cNvCxnSpPr>
          <p:nvPr/>
        </p:nvCxnSpPr>
        <p:spPr>
          <a:xfrm>
            <a:off x="6559197" y="3574463"/>
            <a:ext cx="7669" cy="2728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51697F28-39D4-4C79-9F73-77F5D118CB56}"/>
              </a:ext>
            </a:extLst>
          </p:cNvPr>
          <p:cNvSpPr/>
          <p:nvPr/>
        </p:nvSpPr>
        <p:spPr>
          <a:xfrm>
            <a:off x="5567538" y="4958420"/>
            <a:ext cx="2031294" cy="369332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Computing </a:t>
            </a:r>
            <a:r>
              <a:rPr lang="ko-KR" altLang="en-US" sz="1200" dirty="0">
                <a:solidFill>
                  <a:schemeClr val="tx1"/>
                </a:solidFill>
              </a:rPr>
              <a:t>수행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ABB0661-8AB5-4060-ADE4-74ECE51E3AE4}"/>
              </a:ext>
            </a:extLst>
          </p:cNvPr>
          <p:cNvCxnSpPr>
            <a:cxnSpLocks/>
            <a:stCxn id="43" idx="2"/>
            <a:endCxn id="53" idx="0"/>
          </p:cNvCxnSpPr>
          <p:nvPr/>
        </p:nvCxnSpPr>
        <p:spPr>
          <a:xfrm>
            <a:off x="6572065" y="4765056"/>
            <a:ext cx="11120" cy="1933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순서도: 처리 57">
            <a:extLst>
              <a:ext uri="{FF2B5EF4-FFF2-40B4-BE49-F238E27FC236}">
                <a16:creationId xmlns:a16="http://schemas.microsoft.com/office/drawing/2014/main" id="{25F9DDAB-B88A-405C-A4B9-F9E79E6571E9}"/>
              </a:ext>
            </a:extLst>
          </p:cNvPr>
          <p:cNvSpPr/>
          <p:nvPr/>
        </p:nvSpPr>
        <p:spPr>
          <a:xfrm>
            <a:off x="9150692" y="5575199"/>
            <a:ext cx="2031294" cy="369332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Http </a:t>
            </a:r>
            <a:r>
              <a:rPr lang="ko-KR" altLang="en-US" sz="1200" dirty="0">
                <a:solidFill>
                  <a:schemeClr val="tx1"/>
                </a:solidFill>
              </a:rPr>
              <a:t>응답</a:t>
            </a:r>
          </a:p>
        </p:txBody>
      </p:sp>
      <p:sp>
        <p:nvSpPr>
          <p:cNvPr id="70" name="순서도: 처리 69">
            <a:extLst>
              <a:ext uri="{FF2B5EF4-FFF2-40B4-BE49-F238E27FC236}">
                <a16:creationId xmlns:a16="http://schemas.microsoft.com/office/drawing/2014/main" id="{9EE6FA94-F064-45E7-93AB-514DE30918FB}"/>
              </a:ext>
            </a:extLst>
          </p:cNvPr>
          <p:cNvSpPr/>
          <p:nvPr/>
        </p:nvSpPr>
        <p:spPr>
          <a:xfrm>
            <a:off x="5056625" y="2642590"/>
            <a:ext cx="3042000" cy="3769849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200" dirty="0">
                <a:solidFill>
                  <a:schemeClr val="tx1"/>
                </a:solidFill>
              </a:rPr>
              <a:t>Device Request Thread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1" name="순서도: 처리 70">
            <a:extLst>
              <a:ext uri="{FF2B5EF4-FFF2-40B4-BE49-F238E27FC236}">
                <a16:creationId xmlns:a16="http://schemas.microsoft.com/office/drawing/2014/main" id="{098F53DC-42F6-49B0-81F6-1EEC89EBABF6}"/>
              </a:ext>
            </a:extLst>
          </p:cNvPr>
          <p:cNvSpPr/>
          <p:nvPr/>
        </p:nvSpPr>
        <p:spPr>
          <a:xfrm>
            <a:off x="5543549" y="2065152"/>
            <a:ext cx="2031294" cy="369332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Device </a:t>
            </a:r>
            <a:r>
              <a:rPr lang="ko-KR" altLang="en-US" sz="1200" dirty="0">
                <a:solidFill>
                  <a:schemeClr val="tx1"/>
                </a:solidFill>
              </a:rPr>
              <a:t>서비스 시작</a:t>
            </a: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501FFFFC-DBFA-4D29-B360-F0878E516517}"/>
              </a:ext>
            </a:extLst>
          </p:cNvPr>
          <p:cNvCxnSpPr>
            <a:cxnSpLocks/>
            <a:stCxn id="19" idx="2"/>
            <a:endCxn id="71" idx="0"/>
          </p:cNvCxnSpPr>
          <p:nvPr/>
        </p:nvCxnSpPr>
        <p:spPr>
          <a:xfrm flipH="1">
            <a:off x="6559196" y="1898601"/>
            <a:ext cx="5998" cy="1665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1D10C99B-2EE7-452B-98F0-454C062DE8E3}"/>
              </a:ext>
            </a:extLst>
          </p:cNvPr>
          <p:cNvCxnSpPr>
            <a:cxnSpLocks/>
            <a:stCxn id="71" idx="2"/>
            <a:endCxn id="79" idx="0"/>
          </p:cNvCxnSpPr>
          <p:nvPr/>
        </p:nvCxnSpPr>
        <p:spPr>
          <a:xfrm>
            <a:off x="6559196" y="2434484"/>
            <a:ext cx="1" cy="644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순서도: 판단 78">
            <a:extLst>
              <a:ext uri="{FF2B5EF4-FFF2-40B4-BE49-F238E27FC236}">
                <a16:creationId xmlns:a16="http://schemas.microsoft.com/office/drawing/2014/main" id="{C50DF25B-3AF3-48B5-8592-E3AF56A4EBDE}"/>
              </a:ext>
            </a:extLst>
          </p:cNvPr>
          <p:cNvSpPr/>
          <p:nvPr/>
        </p:nvSpPr>
        <p:spPr>
          <a:xfrm>
            <a:off x="5543550" y="3078742"/>
            <a:ext cx="2031294" cy="495721"/>
          </a:xfrm>
          <a:prstGeom prst="flowChartDecisio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Forward Command </a:t>
            </a:r>
            <a:r>
              <a:rPr lang="ko-KR" altLang="en-US" sz="1000" dirty="0">
                <a:solidFill>
                  <a:schemeClr val="tx1"/>
                </a:solidFill>
              </a:rPr>
              <a:t>존재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7BC580DC-915A-40FF-8DF4-4660B8C4814E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6566866" y="4216687"/>
            <a:ext cx="5199" cy="1790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6314C34-8A83-4141-88A4-A46B08D258FC}"/>
              </a:ext>
            </a:extLst>
          </p:cNvPr>
          <p:cNvSpPr txBox="1"/>
          <p:nvPr/>
        </p:nvSpPr>
        <p:spPr>
          <a:xfrm>
            <a:off x="6601662" y="3599758"/>
            <a:ext cx="462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Yes</a:t>
            </a:r>
            <a:endParaRPr lang="ko-KR" altLang="en-US" sz="1200" dirty="0"/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84C7A804-61E9-446A-8FA3-FB76517715FC}"/>
              </a:ext>
            </a:extLst>
          </p:cNvPr>
          <p:cNvCxnSpPr>
            <a:cxnSpLocks/>
            <a:stCxn id="79" idx="1"/>
            <a:endCxn id="139" idx="1"/>
          </p:cNvCxnSpPr>
          <p:nvPr/>
        </p:nvCxnSpPr>
        <p:spPr>
          <a:xfrm rot="10800000" flipH="1" flipV="1">
            <a:off x="5543550" y="3326603"/>
            <a:ext cx="23988" cy="2417484"/>
          </a:xfrm>
          <a:prstGeom prst="bentConnector3">
            <a:avLst>
              <a:gd name="adj1" fmla="val -9529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A66778F-9D6B-4D1D-B553-0486C3E8C326}"/>
              </a:ext>
            </a:extLst>
          </p:cNvPr>
          <p:cNvSpPr txBox="1"/>
          <p:nvPr/>
        </p:nvSpPr>
        <p:spPr>
          <a:xfrm>
            <a:off x="5277207" y="3003321"/>
            <a:ext cx="393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No</a:t>
            </a:r>
            <a:endParaRPr lang="ko-KR" altLang="en-US" sz="1200" dirty="0"/>
          </a:p>
        </p:txBody>
      </p: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BFA92A35-E2BF-40FA-9EBC-391F835D73FC}"/>
              </a:ext>
            </a:extLst>
          </p:cNvPr>
          <p:cNvCxnSpPr>
            <a:cxnSpLocks/>
            <a:stCxn id="53" idx="3"/>
            <a:endCxn id="79" idx="3"/>
          </p:cNvCxnSpPr>
          <p:nvPr/>
        </p:nvCxnSpPr>
        <p:spPr>
          <a:xfrm flipH="1" flipV="1">
            <a:off x="7574844" y="3326603"/>
            <a:ext cx="23988" cy="1816483"/>
          </a:xfrm>
          <a:prstGeom prst="bentConnector3">
            <a:avLst>
              <a:gd name="adj1" fmla="val -9529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순서도: 처리 138">
            <a:extLst>
              <a:ext uri="{FF2B5EF4-FFF2-40B4-BE49-F238E27FC236}">
                <a16:creationId xmlns:a16="http://schemas.microsoft.com/office/drawing/2014/main" id="{E07990FC-A590-49F6-8DE9-8C55D9CCB1E5}"/>
              </a:ext>
            </a:extLst>
          </p:cNvPr>
          <p:cNvSpPr/>
          <p:nvPr/>
        </p:nvSpPr>
        <p:spPr>
          <a:xfrm>
            <a:off x="5567538" y="5559421"/>
            <a:ext cx="2031294" cy="369332"/>
          </a:xfrm>
          <a:prstGeom prst="flowChartProces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Device </a:t>
            </a:r>
            <a:r>
              <a:rPr lang="ko-KR" altLang="en-US" sz="1200" dirty="0">
                <a:solidFill>
                  <a:schemeClr val="tx1"/>
                </a:solidFill>
              </a:rPr>
              <a:t>서비스 종료</a:t>
            </a:r>
          </a:p>
        </p:txBody>
      </p:sp>
      <p:cxnSp>
        <p:nvCxnSpPr>
          <p:cNvPr id="148" name="연결선: 꺾임 147">
            <a:extLst>
              <a:ext uri="{FF2B5EF4-FFF2-40B4-BE49-F238E27FC236}">
                <a16:creationId xmlns:a16="http://schemas.microsoft.com/office/drawing/2014/main" id="{F236CE15-EB19-4C2F-84CF-F3711D97A224}"/>
              </a:ext>
            </a:extLst>
          </p:cNvPr>
          <p:cNvCxnSpPr>
            <a:cxnSpLocks/>
            <a:stCxn id="70" idx="2"/>
            <a:endCxn id="58" idx="0"/>
          </p:cNvCxnSpPr>
          <p:nvPr/>
        </p:nvCxnSpPr>
        <p:spPr>
          <a:xfrm rot="5400000" flipH="1" flipV="1">
            <a:off x="7953362" y="4199462"/>
            <a:ext cx="837240" cy="3588714"/>
          </a:xfrm>
          <a:prstGeom prst="bentConnector5">
            <a:avLst>
              <a:gd name="adj1" fmla="val -27304"/>
              <a:gd name="adj2" fmla="val 57041"/>
              <a:gd name="adj3" fmla="val 12730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순서도: 문서 155">
            <a:extLst>
              <a:ext uri="{FF2B5EF4-FFF2-40B4-BE49-F238E27FC236}">
                <a16:creationId xmlns:a16="http://schemas.microsoft.com/office/drawing/2014/main" id="{C981B552-6749-4962-B058-338761B93858}"/>
              </a:ext>
            </a:extLst>
          </p:cNvPr>
          <p:cNvSpPr/>
          <p:nvPr/>
        </p:nvSpPr>
        <p:spPr>
          <a:xfrm>
            <a:off x="2988911" y="2642590"/>
            <a:ext cx="1164516" cy="331445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Device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Command </a:t>
            </a:r>
            <a:r>
              <a:rPr lang="ko-KR" altLang="en-US" sz="1000" dirty="0">
                <a:solidFill>
                  <a:schemeClr val="tx1"/>
                </a:solidFill>
              </a:rPr>
              <a:t>정보</a:t>
            </a: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1724C2F8-691B-488C-99E3-8B692FA2651A}"/>
              </a:ext>
            </a:extLst>
          </p:cNvPr>
          <p:cNvCxnSpPr>
            <a:cxnSpLocks/>
            <a:stCxn id="156" idx="1"/>
            <a:endCxn id="3" idx="3"/>
          </p:cNvCxnSpPr>
          <p:nvPr/>
        </p:nvCxnSpPr>
        <p:spPr>
          <a:xfrm flipH="1" flipV="1">
            <a:off x="2482144" y="2444654"/>
            <a:ext cx="506767" cy="36365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52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64232D-F8FC-40A1-B944-4413795A1578}"/>
              </a:ext>
            </a:extLst>
          </p:cNvPr>
          <p:cNvSpPr txBox="1"/>
          <p:nvPr/>
        </p:nvSpPr>
        <p:spPr>
          <a:xfrm>
            <a:off x="462844" y="417689"/>
            <a:ext cx="301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적용 기술 </a:t>
            </a:r>
            <a:r>
              <a:rPr lang="en-US" altLang="ko-KR" dirty="0"/>
              <a:t>(</a:t>
            </a:r>
            <a:r>
              <a:rPr lang="ko-KR" altLang="en-US" dirty="0"/>
              <a:t>기본기능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3" name="표 43">
            <a:extLst>
              <a:ext uri="{FF2B5EF4-FFF2-40B4-BE49-F238E27FC236}">
                <a16:creationId xmlns:a16="http://schemas.microsoft.com/office/drawing/2014/main" id="{ED1909A5-59BF-415D-9742-ADBD15B84F5A}"/>
              </a:ext>
            </a:extLst>
          </p:cNvPr>
          <p:cNvGraphicFramePr>
            <a:graphicFrameLocks noGrp="1"/>
          </p:cNvGraphicFramePr>
          <p:nvPr/>
        </p:nvGraphicFramePr>
        <p:xfrm>
          <a:off x="660400" y="828379"/>
          <a:ext cx="10909300" cy="534417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4061283726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3685920021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2450232448"/>
                    </a:ext>
                  </a:extLst>
                </a:gridCol>
                <a:gridCol w="5232400">
                  <a:extLst>
                    <a:ext uri="{9D8B030D-6E8A-4147-A177-3AD203B41FA5}">
                      <a16:colId xmlns:a16="http://schemas.microsoft.com/office/drawing/2014/main" val="624999606"/>
                    </a:ext>
                  </a:extLst>
                </a:gridCol>
              </a:tblGrid>
              <a:tr h="2419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구성 요소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기능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 기술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선정 배경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235680"/>
                  </a:ext>
                </a:extLst>
              </a:tr>
              <a:tr h="58078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Initial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Data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Loader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File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 저장되어 있는 초기 메타 데이터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(Device, Command)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로딩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File/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FileReader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BufferedReader</a:t>
                      </a:r>
                      <a:endParaRPr lang="en-US" altLang="ko-KR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라인단위 처리를 위해 라인 읽기 기능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(txt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파일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 파일 전체 읽기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(json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파일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기능을 제공하는 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BufferedReader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494376"/>
                  </a:ext>
                </a:extLst>
              </a:tr>
              <a:tr h="58078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gson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Json De/Serialization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을 지원하는 라이브러리로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Json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형태로 제공되는 메타데이터를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VO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 변환하기 위해 사용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886980"/>
                  </a:ext>
                </a:extLst>
              </a:tr>
              <a:tr h="4113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Device/Command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정보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VO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형태의 초기 메타 데이터의 저장소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Object/Map/List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메타데이터를 구조적으로 관리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저장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조회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할 수 있는 데이터 저장 방식으로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Map/List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을 사용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896706"/>
                  </a:ext>
                </a:extLst>
              </a:tr>
              <a:tr h="750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Console Input Reader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사용자가 표준 입력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(Console)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데이터 읽기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buFontTx/>
                        <a:buNone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BufferedReader/InputStreamReader/System.in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표준입력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키보드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을 받기위한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java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기본 제공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System.in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사용하였고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버퍼를 사용한 효율적인 입출력 기능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 읽기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을 사용하기 위해 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BufferedReader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717659"/>
                  </a:ext>
                </a:extLst>
              </a:tr>
              <a:tr h="750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Server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Server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로부터 오는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요청을 처리하기 위한 서버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Jetty Http Server</a:t>
                      </a:r>
                    </a:p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Jetty Http 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ServletHadler</a:t>
                      </a:r>
                      <a:endParaRPr lang="en-US" altLang="ko-KR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gson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Jetty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는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java http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서버이자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java Servlet Container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Server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의 요청 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url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 따라 동작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(Servlet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Handler)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정의할 수 있는 경량 프레임워크로 내장이 가능하고 확장성이 뛰어남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520198"/>
                  </a:ext>
                </a:extLst>
              </a:tr>
              <a:tr h="4113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Client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Device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에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요청을 하기 위한 클라이언트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Jetty 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HttpClient</a:t>
                      </a:r>
                      <a:endParaRPr lang="en-US" altLang="ko-KR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gson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Jetty 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HttpClient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는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요청을 수행하기 위한 쉬운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API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와 </a:t>
                      </a:r>
                      <a:r>
                        <a:rPr lang="ko-KR" altLang="en-US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유틸클래스를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제공함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69676"/>
                  </a:ext>
                </a:extLst>
              </a:tr>
              <a:tr h="7501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요청 처리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Workers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Device/Command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정보에 따라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요청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응답 처리를 수행하고 병렬 처리를 지원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Thread(Runnable)</a:t>
                      </a:r>
                    </a:p>
                    <a:p>
                      <a:pPr latinLnBrk="0"/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ExecutorService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ThreadPool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지원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latinLnBrk="0"/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병렬처리를 지원하는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java Thread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클래스를 사용하고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thread pool(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ExecutorService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사용함으로써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thread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생성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소멸과 같은 오버헤드를 줄이고 실행되는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thread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수를 제어할 수 있음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78400"/>
                  </a:ext>
                </a:extLst>
              </a:tr>
              <a:tr h="580785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Computing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Device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의 응답에 따라 관련 라이브러리를 동적으로 </a:t>
                      </a:r>
                      <a:r>
                        <a:rPr lang="ko-KR" altLang="en-US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로딩하고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실행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Class.forName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()</a:t>
                      </a:r>
                    </a:p>
                    <a:p>
                      <a:pPr latinLnBrk="0"/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ClassLoader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클래스패스에 있는 라이브러리 내 클래스로 로딩하기 위한 방법으로 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Class.forName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을 활용하고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jar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파일을 동적으로 로딩해서 실행하기 위한 방법으로 </a:t>
                      </a: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ClassLoader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를 활용 가능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867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161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64232D-F8FC-40A1-B944-4413795A1578}"/>
              </a:ext>
            </a:extLst>
          </p:cNvPr>
          <p:cNvSpPr txBox="1"/>
          <p:nvPr/>
        </p:nvSpPr>
        <p:spPr>
          <a:xfrm>
            <a:off x="462844" y="417689"/>
            <a:ext cx="301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적용 기술 </a:t>
            </a:r>
            <a:r>
              <a:rPr lang="en-US" altLang="ko-KR" dirty="0"/>
              <a:t>(</a:t>
            </a:r>
            <a:r>
              <a:rPr lang="ko-KR" altLang="en-US" dirty="0"/>
              <a:t>확장기능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3" name="표 43">
            <a:extLst>
              <a:ext uri="{FF2B5EF4-FFF2-40B4-BE49-F238E27FC236}">
                <a16:creationId xmlns:a16="http://schemas.microsoft.com/office/drawing/2014/main" id="{ED1909A5-59BF-415D-9742-ADBD15B84F5A}"/>
              </a:ext>
            </a:extLst>
          </p:cNvPr>
          <p:cNvGraphicFramePr>
            <a:graphicFrameLocks noGrp="1"/>
          </p:cNvGraphicFramePr>
          <p:nvPr/>
        </p:nvGraphicFramePr>
        <p:xfrm>
          <a:off x="660400" y="828379"/>
          <a:ext cx="10909300" cy="579013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4061283726"/>
                    </a:ext>
                  </a:extLst>
                </a:gridCol>
                <a:gridCol w="2327729">
                  <a:extLst>
                    <a:ext uri="{9D8B030D-6E8A-4147-A177-3AD203B41FA5}">
                      <a16:colId xmlns:a16="http://schemas.microsoft.com/office/drawing/2014/main" val="3685920021"/>
                    </a:ext>
                  </a:extLst>
                </a:gridCol>
                <a:gridCol w="2772228">
                  <a:extLst>
                    <a:ext uri="{9D8B030D-6E8A-4147-A177-3AD203B41FA5}">
                      <a16:colId xmlns:a16="http://schemas.microsoft.com/office/drawing/2014/main" val="2450232448"/>
                    </a:ext>
                  </a:extLst>
                </a:gridCol>
                <a:gridCol w="4399643">
                  <a:extLst>
                    <a:ext uri="{9D8B030D-6E8A-4147-A177-3AD203B41FA5}">
                      <a16:colId xmlns:a16="http://schemas.microsoft.com/office/drawing/2014/main" val="624999606"/>
                    </a:ext>
                  </a:extLst>
                </a:gridCol>
              </a:tblGrid>
              <a:tr h="2945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구성 요소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기능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 기술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선정 기준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235680"/>
                  </a:ext>
                </a:extLst>
              </a:tr>
              <a:tr h="4417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서비스간 통신 및 문서화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서버간 통신 방식을 정의하고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API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명세화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문서화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REST API, Swagger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서버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간 표준 통신 방식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(Http, API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표준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으로 채택하고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API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명세 및 테스트를 지원하는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Swagger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896706"/>
                  </a:ext>
                </a:extLst>
              </a:tr>
              <a:tr h="4417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사용자 인증 및 권한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서버간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(Service) Http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요청에 대한 인증 및 권한 처리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JWT, Token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사용자 인증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JWT(token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방식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은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Session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방식보다 가볍고 분산환경에서 확장성이 좋음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276748"/>
                  </a:ext>
                </a:extLst>
              </a:tr>
              <a:tr h="6290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메타데이터 저장소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파일 기반의 메타데이터 관리를 메모리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기반 데이터 관리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Ehcache</a:t>
                      </a:r>
                      <a:endParaRPr lang="en-US" altLang="ko-KR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Redis Cache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변경이 적고 조회가 많은 데이터들을 메모리 기반으로 관리함으로써 성능 개선과 분산환경에서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global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캐시로서 확장성을 가져갈 수 있음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717659"/>
                  </a:ext>
                </a:extLst>
              </a:tr>
              <a:tr h="6290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컨테이너화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및 오케스트레이션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컨테이너화 된 서비스 관리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배포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운영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기능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Docker, K8S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Docker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는 서비스 컨테이너화를 지원하고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K8S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는 컨테이너들의 배포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스케일링 및 관리를 지원 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520198"/>
                  </a:ext>
                </a:extLst>
              </a:tr>
              <a:tr h="4417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 Server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통신을 지원하는 전문 솔루션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Tomcat, Nginx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Http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실행과 운영이 좀 더 고도화된 웹서버를 도입함으로써 엔터프라이즈 레벨의 기능을 지원하고 탑재 가능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69676"/>
                  </a:ext>
                </a:extLst>
              </a:tr>
              <a:tr h="4417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로그 출력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로그 출력 수준에 맞춰 로그를 출력하는 기능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Log4J, Slf4J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로그 </a:t>
                      </a:r>
                      <a:r>
                        <a:rPr lang="ko-KR" altLang="en-US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레별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(error,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warn,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info, debug, trace)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별로 로그를 출력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관리할 수 있는 기능을 제공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310821"/>
                  </a:ext>
                </a:extLst>
              </a:tr>
              <a:tr h="6290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로그 수집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모니터링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시스템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어플리케이션이 남기는 로그들을 수집하고 모니터링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ELK Stack (Elasticsearch, Logstash, Kibana)</a:t>
                      </a:r>
                    </a:p>
                    <a:p>
                      <a:pPr latinLnBrk="0"/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Prometheus, Grafana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시스템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어플리케이션이 남기는 로그들을 수집하고 분석해서 시스템의 상태를 실시간으로 확인할 수 있는 환경 구성을 지원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78400"/>
                  </a:ext>
                </a:extLst>
              </a:tr>
              <a:tr h="4869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추적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간 요청에 대해 추적하고 관리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OpenTelemetry</a:t>
                      </a:r>
                      <a:endParaRPr lang="en-US" altLang="ko-KR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간 요청에 대해 추적 기능을 제공하고 문제 발생시 빠르게 문제를 파악할 수 있음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867513"/>
                  </a:ext>
                </a:extLst>
              </a:tr>
              <a:tr h="618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로드밸런싱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단일 접근 포인트를 제공하고 멀티 서비스들의 부하 분산 지원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buFontTx/>
                        <a:buNone/>
                      </a:pPr>
                      <a:r>
                        <a:rPr lang="en-US" altLang="ko-KR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HAProxy</a:t>
                      </a:r>
                      <a:endParaRPr lang="en-US" altLang="ko-KR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하드웨어 스위치를 대체하는 소프트웨어 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reverse-proxy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로서 가용성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로드밸런싱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기능을 제공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346293"/>
                  </a:ext>
                </a:extLst>
              </a:tr>
              <a:tr h="6313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OPEN API</a:t>
                      </a:r>
                      <a:endParaRPr lang="ko-KR" altLang="en-US" sz="12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레가시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 시스템과의 연계 기능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buFontTx/>
                        <a:buNone/>
                      </a:pP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REST API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다양한 </a:t>
                      </a:r>
                      <a:r>
                        <a:rPr lang="ko-KR" altLang="en-US" sz="1200" dirty="0" err="1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레가시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외부시스템과 연동하기 위한 통신 프로토콜</a:t>
                      </a:r>
                      <a:r>
                        <a:rPr lang="en-US" altLang="ko-KR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명세를 제공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214498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7E398F2D-47C2-4078-BB05-1C72374E0673}"/>
              </a:ext>
            </a:extLst>
          </p:cNvPr>
          <p:cNvGrpSpPr/>
          <p:nvPr/>
        </p:nvGrpSpPr>
        <p:grpSpPr>
          <a:xfrm>
            <a:off x="660400" y="7064425"/>
            <a:ext cx="11423978" cy="5472289"/>
            <a:chOff x="462844" y="968021"/>
            <a:chExt cx="11423978" cy="547228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A614955C-214D-4D28-9B33-29C2FF335322}"/>
                </a:ext>
              </a:extLst>
            </p:cNvPr>
            <p:cNvSpPr/>
            <p:nvPr/>
          </p:nvSpPr>
          <p:spPr>
            <a:xfrm>
              <a:off x="2394255" y="968021"/>
              <a:ext cx="7752038" cy="54722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altLang="ko-KR" sz="800" dirty="0"/>
            </a:p>
            <a:p>
              <a:pPr algn="ctr"/>
              <a:r>
                <a:rPr lang="en-US" altLang="ko-KR" sz="2000" dirty="0"/>
                <a:t>Edge Node</a:t>
              </a:r>
              <a:endParaRPr lang="ko-KR" altLang="en-US" sz="2000" dirty="0"/>
            </a:p>
          </p:txBody>
        </p:sp>
        <p:sp>
          <p:nvSpPr>
            <p:cNvPr id="47" name="순서도: 처리 46">
              <a:extLst>
                <a:ext uri="{FF2B5EF4-FFF2-40B4-BE49-F238E27FC236}">
                  <a16:creationId xmlns:a16="http://schemas.microsoft.com/office/drawing/2014/main" id="{4D654D38-801B-49E9-86A6-D0381FAC92BF}"/>
                </a:ext>
              </a:extLst>
            </p:cNvPr>
            <p:cNvSpPr/>
            <p:nvPr/>
          </p:nvSpPr>
          <p:spPr>
            <a:xfrm>
              <a:off x="5961657" y="4370282"/>
              <a:ext cx="3836086" cy="1136604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Http Client Worker Pool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32C79B0-232E-4CF2-B2EC-12BBEB93E5A2}"/>
                </a:ext>
              </a:extLst>
            </p:cNvPr>
            <p:cNvSpPr/>
            <p:nvPr/>
          </p:nvSpPr>
          <p:spPr>
            <a:xfrm>
              <a:off x="462844" y="968022"/>
              <a:ext cx="1731434" cy="54722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altLang="ko-KR" sz="800" dirty="0"/>
            </a:p>
            <a:p>
              <a:pPr algn="ctr"/>
              <a:r>
                <a:rPr lang="en-US" altLang="ko-KR" sz="2000" dirty="0"/>
                <a:t>Server</a:t>
              </a:r>
              <a:endParaRPr lang="ko-KR" altLang="en-US" sz="2000" dirty="0"/>
            </a:p>
          </p:txBody>
        </p:sp>
        <p:sp>
          <p:nvSpPr>
            <p:cNvPr id="49" name="순서도: 수동 입력 48">
              <a:extLst>
                <a:ext uri="{FF2B5EF4-FFF2-40B4-BE49-F238E27FC236}">
                  <a16:creationId xmlns:a16="http://schemas.microsoft.com/office/drawing/2014/main" id="{85862407-DFC3-47B9-9AF8-2A9226F2AA62}"/>
                </a:ext>
              </a:extLst>
            </p:cNvPr>
            <p:cNvSpPr/>
            <p:nvPr/>
          </p:nvSpPr>
          <p:spPr>
            <a:xfrm>
              <a:off x="620888" y="1711481"/>
              <a:ext cx="1350735" cy="654755"/>
            </a:xfrm>
            <a:prstGeom prst="flowChartManualInpu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Console Input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0" name="순서도: 수동 입력 49">
              <a:extLst>
                <a:ext uri="{FF2B5EF4-FFF2-40B4-BE49-F238E27FC236}">
                  <a16:creationId xmlns:a16="http://schemas.microsoft.com/office/drawing/2014/main" id="{8B468D6C-3163-4AF9-8902-CB7F9B8E04C3}"/>
                </a:ext>
              </a:extLst>
            </p:cNvPr>
            <p:cNvSpPr/>
            <p:nvPr/>
          </p:nvSpPr>
          <p:spPr>
            <a:xfrm>
              <a:off x="620888" y="2941972"/>
              <a:ext cx="1350735" cy="654755"/>
            </a:xfrm>
            <a:prstGeom prst="flowChartManualInpu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Http Request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A90250C-1329-4B52-9BD4-6C43299A746F}"/>
                </a:ext>
              </a:extLst>
            </p:cNvPr>
            <p:cNvSpPr/>
            <p:nvPr/>
          </p:nvSpPr>
          <p:spPr>
            <a:xfrm>
              <a:off x="2670753" y="1711481"/>
              <a:ext cx="2573999" cy="6547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Console Input Reader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(</a:t>
              </a:r>
              <a:r>
                <a:rPr lang="ko-KR" altLang="en-US" sz="1400" dirty="0">
                  <a:solidFill>
                    <a:schemeClr val="tx1"/>
                  </a:solidFill>
                </a:rPr>
                <a:t>표준입력 처리</a:t>
              </a:r>
              <a:r>
                <a:rPr lang="en-US" altLang="ko-KR" sz="1400" dirty="0">
                  <a:solidFill>
                    <a:schemeClr val="tx1"/>
                  </a:solidFill>
                </a:rPr>
                <a:t>, String Parser)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456A48A-E568-4637-9804-5EC3B640D622}"/>
                </a:ext>
              </a:extLst>
            </p:cNvPr>
            <p:cNvSpPr/>
            <p:nvPr/>
          </p:nvSpPr>
          <p:spPr>
            <a:xfrm>
              <a:off x="2679094" y="3426960"/>
              <a:ext cx="2573999" cy="6547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Http Server for Server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(Jetty, Http Server)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F97B524B-7818-47F0-8444-9600F18255D4}"/>
                </a:ext>
              </a:extLst>
            </p:cNvPr>
            <p:cNvGrpSpPr/>
            <p:nvPr/>
          </p:nvGrpSpPr>
          <p:grpSpPr>
            <a:xfrm>
              <a:off x="10304641" y="1060838"/>
              <a:ext cx="1560944" cy="1257127"/>
              <a:chOff x="6741089" y="1909436"/>
              <a:chExt cx="2133596" cy="1712686"/>
            </a:xfrm>
          </p:grpSpPr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3D7C5FB4-2B3A-46A6-89F6-F97953AA86D8}"/>
                  </a:ext>
                </a:extLst>
              </p:cNvPr>
              <p:cNvSpPr/>
              <p:nvPr/>
            </p:nvSpPr>
            <p:spPr>
              <a:xfrm>
                <a:off x="6741089" y="1909436"/>
                <a:ext cx="2133596" cy="1712686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정보 조회</a:t>
                </a:r>
                <a:endParaRPr lang="en-US" altLang="ko-KR" sz="12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</a:rPr>
                  <a:t>초기 데이터</a:t>
                </a:r>
              </a:p>
            </p:txBody>
          </p:sp>
          <p:sp>
            <p:nvSpPr>
              <p:cNvPr id="55" name="순서도: 문서 54">
                <a:extLst>
                  <a:ext uri="{FF2B5EF4-FFF2-40B4-BE49-F238E27FC236}">
                    <a16:creationId xmlns:a16="http://schemas.microsoft.com/office/drawing/2014/main" id="{D5BA7630-A1BD-41D5-BC4A-AC0B5E00F6A9}"/>
                  </a:ext>
                </a:extLst>
              </p:cNvPr>
              <p:cNvSpPr/>
              <p:nvPr/>
            </p:nvSpPr>
            <p:spPr>
              <a:xfrm>
                <a:off x="7041048" y="2554111"/>
                <a:ext cx="1591733" cy="451554"/>
              </a:xfrm>
              <a:prstGeom prst="flowChartDocumen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Device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정보</a:t>
                </a:r>
              </a:p>
            </p:txBody>
          </p:sp>
          <p:sp>
            <p:nvSpPr>
              <p:cNvPr id="56" name="순서도: 문서 55">
                <a:extLst>
                  <a:ext uri="{FF2B5EF4-FFF2-40B4-BE49-F238E27FC236}">
                    <a16:creationId xmlns:a16="http://schemas.microsoft.com/office/drawing/2014/main" id="{B7D2770E-AA11-4003-9769-79C142A0F376}"/>
                  </a:ext>
                </a:extLst>
              </p:cNvPr>
              <p:cNvSpPr/>
              <p:nvPr/>
            </p:nvSpPr>
            <p:spPr>
              <a:xfrm>
                <a:off x="7041048" y="3031468"/>
                <a:ext cx="1591733" cy="451554"/>
              </a:xfrm>
              <a:prstGeom prst="flowChartDocumen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Command</a:t>
                </a:r>
              </a:p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</a:t>
                </a:r>
              </a:p>
            </p:txBody>
          </p:sp>
        </p:grp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0B3309FF-AA8B-43F0-8920-FFE309D91DBC}"/>
                </a:ext>
              </a:extLst>
            </p:cNvPr>
            <p:cNvCxnSpPr>
              <a:cxnSpLocks/>
              <a:stCxn id="49" idx="3"/>
              <a:endCxn id="51" idx="1"/>
            </p:cNvCxnSpPr>
            <p:nvPr/>
          </p:nvCxnSpPr>
          <p:spPr>
            <a:xfrm>
              <a:off x="1971623" y="2038859"/>
              <a:ext cx="6991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3A1D8BF5-60AE-4F56-9561-8912C3EFD6A5}"/>
                </a:ext>
              </a:extLst>
            </p:cNvPr>
            <p:cNvCxnSpPr>
              <a:cxnSpLocks/>
              <a:stCxn id="50" idx="3"/>
              <a:endCxn id="52" idx="1"/>
            </p:cNvCxnSpPr>
            <p:nvPr/>
          </p:nvCxnSpPr>
          <p:spPr>
            <a:xfrm>
              <a:off x="1971623" y="3269350"/>
              <a:ext cx="707471" cy="4849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01B348F8-4807-4930-8A8C-5DCF9E35805C}"/>
                </a:ext>
              </a:extLst>
            </p:cNvPr>
            <p:cNvSpPr/>
            <p:nvPr/>
          </p:nvSpPr>
          <p:spPr>
            <a:xfrm>
              <a:off x="3111158" y="4352449"/>
              <a:ext cx="2133596" cy="4942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Request Handler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C09856E-2CCE-4B0C-9CB3-81B374E9D792}"/>
                </a:ext>
              </a:extLst>
            </p:cNvPr>
            <p:cNvSpPr/>
            <p:nvPr/>
          </p:nvSpPr>
          <p:spPr>
            <a:xfrm>
              <a:off x="3269505" y="4459101"/>
              <a:ext cx="2133596" cy="4942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Request Handler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1B8C8A51-EB19-40CA-98C3-F8FCB3E381CF}"/>
                </a:ext>
              </a:extLst>
            </p:cNvPr>
            <p:cNvSpPr/>
            <p:nvPr/>
          </p:nvSpPr>
          <p:spPr>
            <a:xfrm>
              <a:off x="3454761" y="4562703"/>
              <a:ext cx="2133596" cy="629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Http Request Handler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(Servlet, </a:t>
              </a:r>
              <a:r>
                <a:rPr lang="en-US" altLang="ko-KR" sz="1400" dirty="0" err="1">
                  <a:solidFill>
                    <a:schemeClr val="tx1"/>
                  </a:solidFill>
                </a:rPr>
                <a:t>Url</a:t>
              </a:r>
              <a:r>
                <a:rPr lang="en-US" altLang="ko-KR" sz="1400" dirty="0">
                  <a:solidFill>
                    <a:schemeClr val="tx1"/>
                  </a:solidFill>
                </a:rPr>
                <a:t> Mapping, Json Se/Deserialization)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연결선: 꺾임 61">
              <a:extLst>
                <a:ext uri="{FF2B5EF4-FFF2-40B4-BE49-F238E27FC236}">
                  <a16:creationId xmlns:a16="http://schemas.microsoft.com/office/drawing/2014/main" id="{691DB0E5-F9E5-4790-9081-9B24B18FD153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 rot="16200000" flipH="1">
              <a:off x="2748400" y="4236836"/>
              <a:ext cx="517879" cy="207637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71F956D-5B86-4549-93DE-625DF37AEC84}"/>
                </a:ext>
              </a:extLst>
            </p:cNvPr>
            <p:cNvSpPr/>
            <p:nvPr/>
          </p:nvSpPr>
          <p:spPr>
            <a:xfrm>
              <a:off x="6057621" y="3683545"/>
              <a:ext cx="3601395" cy="4942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Http</a:t>
              </a:r>
              <a:r>
                <a:rPr lang="ko-KR" altLang="en-US" sz="1400" dirty="0">
                  <a:solidFill>
                    <a:schemeClr val="tx1"/>
                  </a:solidFill>
                </a:rPr>
                <a:t> 요청 </a:t>
              </a:r>
              <a:r>
                <a:rPr lang="en-US" altLang="ko-KR" sz="1400" dirty="0">
                  <a:solidFill>
                    <a:schemeClr val="tx1"/>
                  </a:solidFill>
                </a:rPr>
                <a:t>Workers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(</a:t>
              </a:r>
              <a:r>
                <a:rPr lang="ko-KR" altLang="en-US" sz="1400" dirty="0">
                  <a:solidFill>
                    <a:schemeClr val="tx1"/>
                  </a:solidFill>
                </a:rPr>
                <a:t>병렬처리</a:t>
              </a:r>
              <a:r>
                <a:rPr lang="en-US" altLang="ko-KR" sz="1400" dirty="0">
                  <a:solidFill>
                    <a:schemeClr val="tx1"/>
                  </a:solidFill>
                </a:rPr>
                <a:t>, Worker</a:t>
              </a:r>
              <a:r>
                <a:rPr lang="ko-KR" altLang="en-US" sz="1400" dirty="0">
                  <a:solidFill>
                    <a:schemeClr val="tx1"/>
                  </a:solidFill>
                </a:rPr>
                <a:t> </a:t>
              </a:r>
              <a:r>
                <a:rPr lang="en-US" altLang="ko-KR" sz="1400" dirty="0">
                  <a:solidFill>
                    <a:schemeClr val="tx1"/>
                  </a:solidFill>
                </a:rPr>
                <a:t>Pool</a:t>
              </a:r>
              <a:r>
                <a:rPr lang="ko-KR" altLang="en-US" sz="1400" dirty="0">
                  <a:solidFill>
                    <a:schemeClr val="tx1"/>
                  </a:solidFill>
                </a:rPr>
                <a:t>관리</a:t>
              </a:r>
              <a:r>
                <a:rPr lang="en-US" altLang="ko-KR" sz="1400" dirty="0">
                  <a:solidFill>
                    <a:schemeClr val="tx1"/>
                  </a:solidFill>
                </a:rPr>
                <a:t>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496B7820-47E8-47BF-8E1A-76A9A9ECBFCF}"/>
                </a:ext>
              </a:extLst>
            </p:cNvPr>
            <p:cNvCxnSpPr>
              <a:cxnSpLocks/>
              <a:stCxn id="54" idx="1"/>
              <a:endCxn id="66" idx="3"/>
            </p:cNvCxnSpPr>
            <p:nvPr/>
          </p:nvCxnSpPr>
          <p:spPr>
            <a:xfrm flipH="1">
              <a:off x="9900410" y="1689402"/>
              <a:ext cx="404231" cy="24735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665BC0F7-FE45-41F7-819D-FAC11E50ED72}"/>
                </a:ext>
              </a:extLst>
            </p:cNvPr>
            <p:cNvCxnSpPr>
              <a:cxnSpLocks/>
              <a:stCxn id="61" idx="3"/>
              <a:endCxn id="63" idx="1"/>
            </p:cNvCxnSpPr>
            <p:nvPr/>
          </p:nvCxnSpPr>
          <p:spPr>
            <a:xfrm flipV="1">
              <a:off x="5588357" y="3930691"/>
              <a:ext cx="469264" cy="946740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F8C3B2D-9B36-4AEE-9B15-5CA2AE3D14D3}"/>
                </a:ext>
              </a:extLst>
            </p:cNvPr>
            <p:cNvSpPr/>
            <p:nvPr/>
          </p:nvSpPr>
          <p:spPr>
            <a:xfrm>
              <a:off x="7559153" y="1609380"/>
              <a:ext cx="2341257" cy="6547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Initial Data Loader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(File Reader, String</a:t>
              </a:r>
              <a:r>
                <a:rPr lang="ko-KR" altLang="en-US" sz="1400" dirty="0">
                  <a:solidFill>
                    <a:schemeClr val="tx1"/>
                  </a:solidFill>
                </a:rPr>
                <a:t> </a:t>
              </a:r>
              <a:r>
                <a:rPr lang="en-US" altLang="ko-KR" sz="1400" dirty="0">
                  <a:solidFill>
                    <a:schemeClr val="tx1"/>
                  </a:solidFill>
                </a:rPr>
                <a:t>Parser, Json Se/Deserialization)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3FD749EF-38F2-48E9-821A-9C7619DC4D32}"/>
                </a:ext>
              </a:extLst>
            </p:cNvPr>
            <p:cNvSpPr/>
            <p:nvPr/>
          </p:nvSpPr>
          <p:spPr>
            <a:xfrm>
              <a:off x="7317759" y="2820574"/>
              <a:ext cx="2341257" cy="66327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Device/Command</a:t>
              </a:r>
              <a:r>
                <a:rPr lang="ko-KR" altLang="en-US" sz="1400" dirty="0">
                  <a:solidFill>
                    <a:schemeClr val="tx1"/>
                  </a:solidFill>
                </a:rPr>
                <a:t> 정보</a:t>
              </a:r>
            </a:p>
          </p:txBody>
        </p: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CA2A79ED-2FF4-4C9A-AB2D-C95911D48A88}"/>
                </a:ext>
              </a:extLst>
            </p:cNvPr>
            <p:cNvCxnSpPr>
              <a:cxnSpLocks/>
              <a:stCxn id="66" idx="2"/>
              <a:endCxn id="67" idx="0"/>
            </p:cNvCxnSpPr>
            <p:nvPr/>
          </p:nvCxnSpPr>
          <p:spPr>
            <a:xfrm flipH="1">
              <a:off x="8488388" y="2264135"/>
              <a:ext cx="241394" cy="5564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1CF9D207-505C-4B0B-AEA1-F4FFE96F4D88}"/>
                </a:ext>
              </a:extLst>
            </p:cNvPr>
            <p:cNvCxnSpPr>
              <a:cxnSpLocks/>
              <a:stCxn id="63" idx="0"/>
              <a:endCxn id="67" idx="2"/>
            </p:cNvCxnSpPr>
            <p:nvPr/>
          </p:nvCxnSpPr>
          <p:spPr>
            <a:xfrm flipV="1">
              <a:off x="7858319" y="3483853"/>
              <a:ext cx="630069" cy="19969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CFD19855-723F-4A82-AC1E-EDDA35C8D008}"/>
                </a:ext>
              </a:extLst>
            </p:cNvPr>
            <p:cNvSpPr/>
            <p:nvPr/>
          </p:nvSpPr>
          <p:spPr>
            <a:xfrm>
              <a:off x="4277544" y="2451401"/>
              <a:ext cx="2133596" cy="4942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 String Request Handler</a:t>
              </a:r>
            </a:p>
          </p:txBody>
        </p: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2E3DC28D-3A7A-455A-BAFB-8A5616FA598E}"/>
                </a:ext>
              </a:extLst>
            </p:cNvPr>
            <p:cNvCxnSpPr>
              <a:cxnSpLocks/>
              <a:stCxn id="70" idx="2"/>
              <a:endCxn id="67" idx="1"/>
            </p:cNvCxnSpPr>
            <p:nvPr/>
          </p:nvCxnSpPr>
          <p:spPr>
            <a:xfrm>
              <a:off x="5344342" y="2945693"/>
              <a:ext cx="1973417" cy="20652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연결선: 꺾임 71">
              <a:extLst>
                <a:ext uri="{FF2B5EF4-FFF2-40B4-BE49-F238E27FC236}">
                  <a16:creationId xmlns:a16="http://schemas.microsoft.com/office/drawing/2014/main" id="{B802B84A-72A0-4F27-8EB6-7701450AC529}"/>
                </a:ext>
              </a:extLst>
            </p:cNvPr>
            <p:cNvCxnSpPr>
              <a:cxnSpLocks/>
              <a:stCxn id="51" idx="2"/>
              <a:endCxn id="70" idx="1"/>
            </p:cNvCxnSpPr>
            <p:nvPr/>
          </p:nvCxnSpPr>
          <p:spPr>
            <a:xfrm rot="16200000" flipH="1">
              <a:off x="3951493" y="2372495"/>
              <a:ext cx="332311" cy="319791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육각형 72">
              <a:extLst>
                <a:ext uri="{FF2B5EF4-FFF2-40B4-BE49-F238E27FC236}">
                  <a16:creationId xmlns:a16="http://schemas.microsoft.com/office/drawing/2014/main" id="{9EE5D1F3-7227-4B51-83E7-ED457E2E3494}"/>
                </a:ext>
              </a:extLst>
            </p:cNvPr>
            <p:cNvSpPr/>
            <p:nvPr/>
          </p:nvSpPr>
          <p:spPr>
            <a:xfrm>
              <a:off x="10325878" y="4028150"/>
              <a:ext cx="1560944" cy="1377875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Device</a:t>
              </a:r>
              <a:endParaRPr lang="ko-KR" altLang="en-US" dirty="0"/>
            </a:p>
          </p:txBody>
        </p: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AE4C4779-C5ED-4739-AB1F-F81DBB86F9CB}"/>
                </a:ext>
              </a:extLst>
            </p:cNvPr>
            <p:cNvCxnSpPr>
              <a:cxnSpLocks/>
              <a:stCxn id="70" idx="3"/>
              <a:endCxn id="73" idx="4"/>
            </p:cNvCxnSpPr>
            <p:nvPr/>
          </p:nvCxnSpPr>
          <p:spPr>
            <a:xfrm>
              <a:off x="6411140" y="2698547"/>
              <a:ext cx="4259207" cy="1329603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BED10E81-3AE3-409C-821A-D04AE884CC3E}"/>
                </a:ext>
              </a:extLst>
            </p:cNvPr>
            <p:cNvSpPr/>
            <p:nvPr/>
          </p:nvSpPr>
          <p:spPr>
            <a:xfrm>
              <a:off x="6096000" y="4734419"/>
              <a:ext cx="1028419" cy="629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Http Request worker #1</a:t>
              </a:r>
            </a:p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(Thread, Http Client)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48D079C8-A3AB-4961-A043-0F3CCCD2AADE}"/>
                </a:ext>
              </a:extLst>
            </p:cNvPr>
            <p:cNvCxnSpPr>
              <a:cxnSpLocks/>
              <a:stCxn id="79" idx="3"/>
              <a:endCxn id="73" idx="3"/>
            </p:cNvCxnSpPr>
            <p:nvPr/>
          </p:nvCxnSpPr>
          <p:spPr>
            <a:xfrm flipV="1">
              <a:off x="9626020" y="4717088"/>
              <a:ext cx="699858" cy="3320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2B776514-84CF-4C2E-A9D5-7A18CCFEE1FC}"/>
                </a:ext>
              </a:extLst>
            </p:cNvPr>
            <p:cNvSpPr/>
            <p:nvPr/>
          </p:nvSpPr>
          <p:spPr>
            <a:xfrm>
              <a:off x="6119190" y="5641056"/>
              <a:ext cx="3499865" cy="5588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Computing</a:t>
              </a:r>
            </a:p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(</a:t>
              </a:r>
              <a:r>
                <a:rPr lang="ko-KR" altLang="en-US" sz="1400" dirty="0">
                  <a:solidFill>
                    <a:schemeClr val="tx1"/>
                  </a:solidFill>
                </a:rPr>
                <a:t>동적 라이브러리 로딩</a:t>
              </a:r>
              <a:r>
                <a:rPr lang="en-US" altLang="ko-KR" sz="1400" dirty="0">
                  <a:solidFill>
                    <a:schemeClr val="tx1"/>
                  </a:solidFill>
                </a:rPr>
                <a:t>/</a:t>
              </a:r>
              <a:r>
                <a:rPr lang="ko-KR" altLang="en-US" sz="1400" dirty="0">
                  <a:solidFill>
                    <a:schemeClr val="tx1"/>
                  </a:solidFill>
                </a:rPr>
                <a:t>실행</a:t>
              </a:r>
              <a:r>
                <a:rPr lang="en-US" altLang="ko-KR" sz="1400" dirty="0">
                  <a:solidFill>
                    <a:schemeClr val="tx1"/>
                  </a:solidFill>
                </a:rPr>
                <a:t>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D7401FA1-9BBA-4D2F-AA0D-19D8F13483B5}"/>
                </a:ext>
              </a:extLst>
            </p:cNvPr>
            <p:cNvSpPr/>
            <p:nvPr/>
          </p:nvSpPr>
          <p:spPr>
            <a:xfrm>
              <a:off x="7167693" y="4734419"/>
              <a:ext cx="1028419" cy="629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Http Request worker #2</a:t>
              </a:r>
            </a:p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(Thread, Http Client)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2EFBAE69-0FE5-49AC-95C9-3331A5768EDB}"/>
                </a:ext>
              </a:extLst>
            </p:cNvPr>
            <p:cNvSpPr/>
            <p:nvPr/>
          </p:nvSpPr>
          <p:spPr>
            <a:xfrm>
              <a:off x="8534820" y="4734418"/>
              <a:ext cx="1091200" cy="629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Http Request worker #n</a:t>
              </a:r>
            </a:p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(Thread, Http Client)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F3115A27-1371-4E4B-9F6C-4B73144527C6}"/>
                </a:ext>
              </a:extLst>
            </p:cNvPr>
            <p:cNvSpPr/>
            <p:nvPr/>
          </p:nvSpPr>
          <p:spPr>
            <a:xfrm>
              <a:off x="8244712" y="4734419"/>
              <a:ext cx="243676" cy="6294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…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51D5E8D7-293A-4849-A488-69C4A8951BBC}"/>
                </a:ext>
              </a:extLst>
            </p:cNvPr>
            <p:cNvCxnSpPr>
              <a:cxnSpLocks/>
              <a:stCxn id="63" idx="2"/>
              <a:endCxn id="47" idx="0"/>
            </p:cNvCxnSpPr>
            <p:nvPr/>
          </p:nvCxnSpPr>
          <p:spPr>
            <a:xfrm>
              <a:off x="7858319" y="4177837"/>
              <a:ext cx="21381" cy="1924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0D951B42-2104-4370-87D0-2F53A99913C7}"/>
                </a:ext>
              </a:extLst>
            </p:cNvPr>
            <p:cNvCxnSpPr>
              <a:cxnSpLocks/>
              <a:stCxn id="75" idx="2"/>
              <a:endCxn id="77" idx="0"/>
            </p:cNvCxnSpPr>
            <p:nvPr/>
          </p:nvCxnSpPr>
          <p:spPr>
            <a:xfrm>
              <a:off x="6610210" y="5363874"/>
              <a:ext cx="1258913" cy="2771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1535982D-E92C-4F91-9BBD-5382691079D2}"/>
                </a:ext>
              </a:extLst>
            </p:cNvPr>
            <p:cNvCxnSpPr>
              <a:cxnSpLocks/>
              <a:stCxn id="78" idx="2"/>
              <a:endCxn id="77" idx="0"/>
            </p:cNvCxnSpPr>
            <p:nvPr/>
          </p:nvCxnSpPr>
          <p:spPr>
            <a:xfrm>
              <a:off x="7681903" y="5363874"/>
              <a:ext cx="187220" cy="2771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A0DF0244-E429-4503-9E89-726C44001944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 flipH="1">
              <a:off x="7869123" y="5374716"/>
              <a:ext cx="1204548" cy="2663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9352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64232D-F8FC-40A1-B944-4413795A1578}"/>
              </a:ext>
            </a:extLst>
          </p:cNvPr>
          <p:cNvSpPr txBox="1"/>
          <p:nvPr/>
        </p:nvSpPr>
        <p:spPr>
          <a:xfrm>
            <a:off x="462843" y="417689"/>
            <a:ext cx="454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상용화</a:t>
            </a:r>
            <a:r>
              <a:rPr lang="en-US" altLang="ko-KR" dirty="0"/>
              <a:t> (</a:t>
            </a:r>
            <a:r>
              <a:rPr lang="ko-KR" altLang="en-US" dirty="0"/>
              <a:t>솔루션 시의 고려사항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3" name="표 43">
            <a:extLst>
              <a:ext uri="{FF2B5EF4-FFF2-40B4-BE49-F238E27FC236}">
                <a16:creationId xmlns:a16="http://schemas.microsoft.com/office/drawing/2014/main" id="{38577D33-4636-40D7-8D2B-7E28749C9C20}"/>
              </a:ext>
            </a:extLst>
          </p:cNvPr>
          <p:cNvGraphicFramePr>
            <a:graphicFrameLocks noGrp="1"/>
          </p:cNvGraphicFramePr>
          <p:nvPr/>
        </p:nvGraphicFramePr>
        <p:xfrm>
          <a:off x="660399" y="828379"/>
          <a:ext cx="11067143" cy="5699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10441">
                  <a:extLst>
                    <a:ext uri="{9D8B030D-6E8A-4147-A177-3AD203B41FA5}">
                      <a16:colId xmlns:a16="http://schemas.microsoft.com/office/drawing/2014/main" val="4061283726"/>
                    </a:ext>
                  </a:extLst>
                </a:gridCol>
                <a:gridCol w="5558874">
                  <a:extLst>
                    <a:ext uri="{9D8B030D-6E8A-4147-A177-3AD203B41FA5}">
                      <a16:colId xmlns:a16="http://schemas.microsoft.com/office/drawing/2014/main" val="2450232448"/>
                    </a:ext>
                  </a:extLst>
                </a:gridCol>
                <a:gridCol w="4397828">
                  <a:extLst>
                    <a:ext uri="{9D8B030D-6E8A-4147-A177-3AD203B41FA5}">
                      <a16:colId xmlns:a16="http://schemas.microsoft.com/office/drawing/2014/main" val="624999606"/>
                    </a:ext>
                  </a:extLst>
                </a:gridCol>
              </a:tblGrid>
              <a:tr h="1547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영역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고려 사항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관련 기술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235680"/>
                  </a:ext>
                </a:extLst>
              </a:tr>
              <a:tr h="3482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물리적 분산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네트워크 지연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(Latency)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줄이기 위한 인프라 설계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 간 분산 시 지연과 비용 최적화를 위한 클라우드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리전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선택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물리적 서버와 네트워크 연결 상태에 따른 가용성 확보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클라우드 컴퓨팅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(AWS, GCP, Azure)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컨테이너 오케스트레이션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(Kubernetes)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가상화 기술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(VMware, Hyper-V)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494376"/>
                  </a:ext>
                </a:extLst>
              </a:tr>
              <a:tr h="3482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자원 공유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자원 접근 권한 및 보안 설정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자원 사용 시 동시성 문제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데드락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경쟁 상태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해결하기 위한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락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메커니즘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자원의 가용성 및 일관성 유지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NFS (Network File System)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분산 파일 시스템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(HDFS,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Ceph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분산 데이터베이스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(Cassandra, MongoDB)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896706"/>
                  </a:ext>
                </a:extLst>
              </a:tr>
              <a:tr h="445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확장성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수평적 확장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(Horizontal Scaling)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 수직적 확장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(Vertical Scaling)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 적합한 방식 선택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확장에 따른 데이터 동기화 문제 해결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확장성 테스트 및 모니터링을 통한 성능 확인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로드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밸런서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(Nginx,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HAProxy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오토스케일링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(AWS Auto Scaling, Kubernetes Horizontal Pod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Autoscaler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캐시 시스템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(Redis, Memcached)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717659"/>
                  </a:ext>
                </a:extLst>
              </a:tr>
              <a:tr h="3482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내결함성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장애 시 데이터 손실 최소화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복제본의 관리와 데이터 일관성 유지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장애 발생 시 대체 경로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페일오버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설정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복제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(Raft,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Paxos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장애 감지 및 복구 시스템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(Kubernetes Health Check, Zookeeper)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분산 메시징 시스템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(Kafka, RabbitMQ)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520198"/>
                  </a:ext>
                </a:extLst>
              </a:tr>
              <a:tr h="3482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투명성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사용자에게 시스템의 복잡성을 감추는 동시에 성능을 유지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간 통신에서 위치나 장애의 투명성을 확보하기 위한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리다이렉션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복구 메커니즘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트랜잭션 투명성 유지 및 비동기 환경에서 일관성 문제 해결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디스커버리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(Consul,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etcd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네트워크 가상화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(SDN, Overlay Network)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분산 트랜잭션 관리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(2PC, SAGA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패턴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69676"/>
                  </a:ext>
                </a:extLst>
              </a:tr>
              <a:tr h="3482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동시성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충돌을 방지하기 위한 동시성 관리 전략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비동기 및 동기 처리 시 트랜잭션 일관성 보장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 간 데이터 접근 시 동시성 문제 해결을 위한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락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정책 설정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동시성 제어 알고리즘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락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세마포어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분산 트랜잭션 처리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(TCC, SAGA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패턴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메시지 큐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(ActiveMQ, Kafka)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78400"/>
                  </a:ext>
                </a:extLst>
              </a:tr>
              <a:tr h="348261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비동기성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메시지 전달 지연에 따른 시스템 동기화 문제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비동기 메시지 처리 중 발생할 수 있는 데이터 불일치 문제 해결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재시도 메커니즘 설정 및 데이터 중복 처리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메시지 브로커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(RabbitMQ, Kafka)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비동기 통신 프로토콜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gRPC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WebSocket)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기반 아키텍처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(Event-Driven Architecture)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867513"/>
                  </a:ext>
                </a:extLst>
              </a:tr>
              <a:tr h="4450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분산 데이터 관리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이론에 따른 일관성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(Consistency),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가용성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(Availability),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파티션 허용성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(Partition Tolerance)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간의 트레이드오프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샤딩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 분할 기준과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샤드의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균등한 부하 분산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복제본의 관리 및 일관성 유지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분산 데이터베이스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(Cassandra,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CockroachDB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샤딩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Sharding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복제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(Replication)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분산 캐시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(Redis Cluster, Memcached)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298476"/>
                  </a:ext>
                </a:extLst>
              </a:tr>
              <a:tr h="348261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자율성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간 의존성을 최소화하여 서비스 자율성을 확보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자율적인 서비스 운영을 위한 독립적인 배포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업데이트 전략 마련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각 서비스의 독립적인 상태 관리와 모니터링 시스템 도입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마이크로서비스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아키텍처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(MSA)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디커플링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(Loose Coupling)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컨테이너화 및 오케스트레이션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(Docker, Kubernetes)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975852"/>
                  </a:ext>
                </a:extLst>
              </a:tr>
              <a:tr h="348261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이질성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서로 다른 기술 스택 간의 호환성 확보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포맷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네트워크 프로토콜 간의 변환과 호환성 문제 해결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다양한 운영체제나 하드웨어에서 일관된 성능을 유지할 수 있는 기술 선택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멀티 플랫폼 지원 프레임워크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(Spring, Node.js)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프로토콜 호환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(REST, 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gRPC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포맷 변환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(JSON, XML, Protocol Buffers)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74510"/>
                  </a:ext>
                </a:extLst>
              </a:tr>
              <a:tr h="348261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지연 및 대역폭 문제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네트워크 지연을 최소화하기 위한 데이터 압축 및 </a:t>
                      </a:r>
                      <a:r>
                        <a:rPr lang="ko-KR" altLang="ko-KR" sz="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캐싱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전략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대역폭을 효율적으로 사용하는 프로토콜과 기술 선택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클라이언트와 서버 간 근접성을 고려한 리소스 배포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컨텐츠 전송 네트워크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(CDN)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네트워크 최적화 도구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(SD-WAN)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근접성 기반 라우팅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(Proximity-based Routing)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979376"/>
                  </a:ext>
                </a:extLst>
              </a:tr>
              <a:tr h="348261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800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보안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암호화를 통한 네트워크 상의 보안 유지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서비스 간 인증 및 권한 관리 강화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네트워크 상의 악의적 공격 방지를 위한 보안 정책 수립</a:t>
                      </a:r>
                      <a:endParaRPr lang="ko-KR" altLang="en-US" sz="8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SSL/TLS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암호화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(HTTPS, TLS)</a:t>
                      </a:r>
                      <a:endParaRPr lang="ko-KR" altLang="ko-KR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OAuth 2.0, OpenID Connect </a:t>
                      </a: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</a:t>
                      </a:r>
                    </a:p>
                    <a:p>
                      <a:pPr marL="171450" lvl="1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방화벽 및 네트워크 보안 그룹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(Firewall, VPC)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456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076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1661</Words>
  <Application>Microsoft Office PowerPoint</Application>
  <PresentationFormat>와이드스크린</PresentationFormat>
  <Paragraphs>289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LG스마트체 Regular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taeyoung park</dc:creator>
  <cp:lastModifiedBy>taeyoung park</cp:lastModifiedBy>
  <cp:revision>1</cp:revision>
  <dcterms:created xsi:type="dcterms:W3CDTF">2026-10-14T11:44:23Z</dcterms:created>
  <dcterms:modified xsi:type="dcterms:W3CDTF">2026-10-14T15:03:00Z</dcterms:modified>
</cp:coreProperties>
</file>